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2"/>
  </p:notesMasterIdLst>
  <p:sldIdLst>
    <p:sldId id="4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48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custDataLst>
    <p:tags r:id="rId4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汇报将分为五个部分。首先是项目摘要，概括我们要解决的问题、提出的方案以及核心贡献。接着，我们会深入探讨项目的研究背景。然后，将详细介绍Dart系统的核心设计。之后，展示一系列仿真与实验结果来验证Dart的性能。最后，对项目进行总结并展望未来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现在我们进入第一部分：摘要。在这一部分，我将简要介绍我们面临的问题、提出的解决方案以及取得的核心成果。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面临的核心问题是，现有的RTT测量方法无法同时满足准确、实时和高效的要求。可编程交换机虽然提供了线速处理的能力，但也带来了正确性和效率的双重挑战。为此，我们设计了Dart系统，它通过三个创新的核心模块——Range Tracker、Packet Tracker和Analytics模块，协同解决了这些挑战。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实验结果表明，Dart的性能非常出色。它能够捕获超过99%的RTT样本，并且对攻击的检测速度达到了秒级。同时，通过巧妙的优化，它以极小的精度代价换取了巨大的内存节省。总而言之，Dart的核心贡献在于，它首次将软件级别的测量精度带到了数据平面，实现了真正的实时、准确、高效的RTT监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下来，我们详细了解一下本项目的研究背景，包括为什么RTT如此重要，以及现有方法的局限性。RTT是网络性能的核心指标，直接影响用户体验和数据传输效率，但传统方法在精度和实时性上都存在明显短板，无法满足现代动态网络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RTT，即往返时延，是网络性能的核心指标。它直接影响着我们日常使用网络的方方面面，从文件传输速度、视频流畅度，到网页加载时间和游戏体验，都与RTT息息相关。可以说，RTT是衡量网络“速度”的体温计。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精准的RTT数据是实现多种高级网络功能的基础。例如，我们可以利用RTT进行智能路由切换，为云游戏玩家选择最优服务器，主动优化视频流质量，甚至实时检测BGP劫持等网络攻击。这些应用都要求RTT测量必须是准确、实时且可操作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选择在数据平面实现RTT测量，是因为其处理能力与软件方案有近千倍的差距，能够实现真正的线速处理。然而，数据平面也带来了严格的硬件约束，如内存有限、计算能力受限等。Dart的设计正是为了在这些严苛的约束下，找到最优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有的RTT测量方法大致可以分为三类。主动探测，如ping命令，虽然简单但脱离实际应用。软件被动监测，如tcptrace，虽然准确但计算开销巨大，无法实时处理高速网络。仅握手监测，如RouteScout，轻量但信息严重不足。这些方法都无法同时满足准确性、实时性和低开销的要求，这正是我们项目要解决的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在数据平面进行RTT测量，首先面临的是正确性挑战。TCP的重传机制会导致歧义，我们无法分辨一个ACK确认的是哪个数据包副本。而网络固有的包乱序问题，则会导致累积ACK错误地匹配到旧的数据包，使得计算出的RTT远大于实际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其次是内存效率挑战。TCP的累积确认机制会导致部分状态永久无法被清理。长延迟的网络路径会让状态长时间占用内存。更严重的是，SYN泛洪等恶意攻击可以轻易耗尽交换机有限的内存资源。这些都是Dart必须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一个直观的方案是使用简单的哈希表来存储每个数据包的信息。但这个方案在真实的TCP流量面前会完全失效。它无法处理重传和乱序，会造成内存泄漏，并且在哈希冲突时会系统性地歧视长延迟的数据包。这正是我们需要设计Dart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现在，我们进入报告的核心部分：Dart系统的详细设计。我们将介绍Dart的整体架构以及三大核心模块的工作原理。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Dart的整体架构由三个协同工作的模块组成。Range Tracker，简称RT表，负责判断数据包的有效性，解决正确性问题。Packet Tracker，简称PT表，负责存储数据包信息，解决内存效率问题。Analytics模块则负责对样本进行过滤和优化，进一步降低资源消耗。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RT表的核心设计是为每个TCP流维护一个测量范围。当新的数据包到达时，我们根据规则判断它是正常包、重传包还是乱序包。对于正常包，我们扩展测量范围并追踪它。对于可能导致歧义的重传包和乱序包，我们立即折叠测量范围，放弃追踪，确保不产生错误的RTT样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里是RT表操作的具体示例。正常的数据包会扩展或推进测量范围。一旦检测到重传或乱序等异常，RT表会立即将测量范围折叠成一个点，暂时停止追踪。这种“宁可错杀，不可放过”的保守策略，确保了我们收集到的每一个RTT样本都是准确可靠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接下来是PT表，它负责存储数据包信息以等待ACK。当哈希冲突发生时，传统的方法要么歧视长延迟数据包，要么浪费内存。我们设计了创新的Lazy Eviction机制，它的核心思想是：只在必须驱逐时才处理，并且给被驱逐的旧条目一次“第二次机会”，让它重新验证自己是否还有效。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Lazy Eviction的具体流程是这样的：当冲突发生时，新条目先占位置，旧条目被重新送入流水线进行验证。如果旧条目所属的流仍然活跃，它就有机会重新进入PT表；如果流已经结束或发生过异常，它就会被自然丢弃。这种机制确保了长延迟的数据包不会被轻易淘汰，从而消除了系统性偏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来看一个具体的例子。当一个新包与一个旧条目冲突时，旧条目会被送去重新验证。如果它所属的流依然活跃，它就可以重新参与竞争。这个过程确保了那些需要较长时间等待ACK的大RTT数据包，不会因为频繁的哈希冲突而被永久地从系统中淘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Dart的第三个创新是Analytics模块。它可以根据我们的分析目标，对RTT样本进行预判过滤。例如，如果我们只关心路径的最小延迟，那么任何存活时间已经超过当前最小值的数据包，都可以被直接丢弃，无需再进行昂贵的再循环验证。这大大降低了资源消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Dart在设计时也充分考虑了安全性。对于SYN泛洪攻击，Dart采取完全忽略握手包的策略，使得攻击流量无法占用任何内存。对于网络拥塞，Dart的RT表会通过更频繁地折叠范围来应对，这不仅防止了内存膨胀，其折叠频率本身还可以作为一个拥塞指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我们基于Intel Tofino交换机和P4语言实现了Dart。整个系统的资源占用非常低，可以与其他网络功能共存。在实现过程中，我们解决了诸如内存不可回读、数据宽度不匹配、序列号回绕等多个硬件特有的挑战。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与现有的相关工作相比，Dart具有显著的优势。它是唯一一个能够同时实现实时处理、逐包连续测量、正确处理重传和乱序、并且无大RTT偏见的系统。可以说，Dart首次将软件级别的测量精度，带到了数据平面，并实现了线速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理论设计完成后，我们进行了一系列仿真与实验来验证Dart的性能。接下来，我将向大家展示我们的实验设置和关键结果。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的实验分为三个部分。首先，我们在真实的硬件交换机上部署了Dart，回放了真实的校园网流量。其次，我们将Dart与公认的软件基准tcptrace进行离线对比，以评估其理论精度。最后，我们通过调整内存参数，研究了Dart在资源受限情况下的性能表现。实验数据规模巨大，足以验证Dart在真实环境下的表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在校园网部署实验中，Dart清晰地揭示了有线和无线接入方式在延迟上的巨大差异。无线终端的内部延迟甚至高达8毫秒，这对于网络优化和运维来说是非常有价值的洞察。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在模拟BGP劫持攻击的实验中，Dart展现了其强大的实时安全监测能力。当流量被恶意重定向，RTT从25毫秒突增至120毫秒时，Dart能够在短短2.58秒内就检测到这一异常并确认攻击，为网络安全防护提供了关键的实时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与软件基准tcptrace的对比结果显示，在理论上，Dart能够捕获超过83%的RTT样本。两者之间的差异并非随机丢失，而是源于Dart为保证正确性而做出的有意取舍，例如在序列空洞时只跟踪最高区间，同时规避了tcptrace将单个RTT错误拆分的设计缺陷，从而确保了测量结果的逻辑严谨性和可信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在RTT分布上，Dart与tcptrace高度吻合。特别是在99th百分位，两者完全一致，这有力地证明了我们的Lazy Eviction机制成功地消除了对大RTT样本的系统性偏见。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我们还分析了跳过TCP握手阶段测量的收益。实验发现，校园网中高达72.5%的连接并未完成握手。通过忽略这些连接，我们可以节省大量内存，而付出的精度代价仅为4.2%。这是一个非常划算的优化。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在有限内存实验中，我们找到了Dart的最佳配置。我们发现，当PT表大小设置为131K条时性价比最高。同时，我们发现单纯拆分哈希表会降低性能，但配合增加再循环次数可以完全弥补。最终，我们推荐的配置是：PT表不小于131K，并允许4次再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总结一下我们的最终性能。Dart在推荐配置下，可以达到超过99%的样本收集率，误差接近零，并且没有任何系统性偏差。它的攻击检测速度极快，空间复杂度为常量，处理速率满足线速，而硬件开销极低。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最后，我们对整个项目进行总结，并对未来的工作进行展望。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Dart的核心贡献主要有四点。首先，Range Tracker机制保证了测量的正确性。其次，Lazy Eviction机制保证了内存效率和无偏见。第三，Analytics-aware过滤机制进一步优化了资源消耗。最后，我们提供了完整的硬件实现和真实部署验证，并将代码开源。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当然，Dart也存在一些局限性。例如，在冷启动时可能存在误判，对范围折叠的处理较为保守，并且无法感知监控点下游的乱序。但这些局限性都有相应的缓解措施，或在实际应用中影响很小。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展望未来，我们计划在四个方向上继续深化Dart。包括扩展对QUIC和IPv6等新协议的支持，探索多监测点部署以分离端主机延迟，增强主动安全检测能力，以及进一步优化性能。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总结一下，Dart是首个在数据平面实现了逐包连续、正确、实时RTT测量的系统。它在严格的硬件约束下，达到了与离线软件相当的精度。我们的核心数据再次证明了Dart的高性能和高效率：样本收集率超99%，攻击检测速度极快，且以极小的样本损失换取了大幅内存节省。同时，系统的每流空间复杂度为O(1)，硬件开销极低。相关论文已发表于SIGCOMM 2022，代码也已开源，欢迎大家关注和使用。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我的汇报到此结束。再次感谢各位老师和同学的聆听，欢迎提问。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81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320" y="122434"/>
            <a:ext cx="3520795" cy="349452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3390108" y="4969057"/>
            <a:ext cx="3894015" cy="37933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答辩人：何志远</a:t>
            </a:r>
            <a:r>
              <a:rPr kumimoji="1" lang="zh-CN" altLang="en-US" sz="1865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，连晓达，韩兆鑫</a:t>
            </a:r>
            <a:endParaRPr kumimoji="1" lang="en-US" altLang="zh-CN" sz="1865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Box 5"/>
          <p:cNvSpPr txBox="1"/>
          <p:nvPr/>
        </p:nvSpPr>
        <p:spPr>
          <a:xfrm>
            <a:off x="8399421" y="4969056"/>
            <a:ext cx="161775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导师：赵振刚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741460" y="4963797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668630" y="2610272"/>
            <a:ext cx="5097441" cy="379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5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中国科学技术大学</a:t>
            </a:r>
            <a:r>
              <a:rPr kumimoji="0" lang="en-US" altLang="zh-C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级软件学院</a:t>
            </a: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2">
              <a:lumMod val="100000"/>
            </a:schemeClr>
          </a:solidFill>
          <a:ln>
            <a:solidFill>
              <a:schemeClr val="accent2">
                <a:lumMod val="100000"/>
              </a:schemeClr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35437" y="6257204"/>
            <a:ext cx="3956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800" b="0" i="0"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红专并进 理实交融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379" y="811489"/>
            <a:ext cx="4227754" cy="1197436"/>
          </a:xfrm>
          <a:prstGeom prst="rect">
            <a:avLst/>
          </a:prstGeom>
        </p:spPr>
      </p:pic>
      <p:sp>
        <p:nvSpPr>
          <p:cNvPr id="3" name="AutoShape 5">
            <a:extLst>
              <a:ext uri="{FF2B5EF4-FFF2-40B4-BE49-F238E27FC236}">
                <a16:creationId xmlns:a16="http://schemas.microsoft.com/office/drawing/2014/main" id="{7958268F-ACB1-50F9-9BF7-FF6AB6973C65}"/>
              </a:ext>
            </a:extLst>
          </p:cNvPr>
          <p:cNvSpPr/>
          <p:nvPr/>
        </p:nvSpPr>
        <p:spPr>
          <a:xfrm>
            <a:off x="2668630" y="3347216"/>
            <a:ext cx="8636000" cy="255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32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计算机网络中新型往返时间测量系统的设计与开发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—— </a:t>
            </a:r>
            <a:r>
              <a:rPr lang="en-US" sz="2000" b="0" i="0" u="none" strike="noStrike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基于Dart的内联实时RTT测量系统</a:t>
            </a:r>
            <a:endParaRPr lang="en-US" sz="2000" b="0" i="0" u="none" strike="noStrike">
              <a:solidFill>
                <a:srgbClr val="37415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825AFD10-4B8B-677C-7D62-B555726FDEB6}"/>
              </a:ext>
            </a:extLst>
          </p:cNvPr>
          <p:cNvSpPr/>
          <p:nvPr/>
        </p:nvSpPr>
        <p:spPr>
          <a:xfrm>
            <a:off x="-3216" y="1521972"/>
            <a:ext cx="2387970" cy="3826419"/>
          </a:xfrm>
          <a:custGeom>
            <a:avLst/>
            <a:gdLst/>
            <a:ahLst/>
            <a:cxnLst/>
            <a:rect l="l" t="t" r="r" b="b"/>
            <a:pathLst>
              <a:path w="2387970" h="3826419">
                <a:moveTo>
                  <a:pt x="0" y="0"/>
                </a:moveTo>
                <a:lnTo>
                  <a:pt x="2387970" y="1357212"/>
                </a:lnTo>
                <a:lnTo>
                  <a:pt x="0" y="1357212"/>
                </a:lnTo>
                <a:lnTo>
                  <a:pt x="0" y="0"/>
                </a:lnTo>
                <a:close/>
                <a:moveTo>
                  <a:pt x="2387970" y="1382602"/>
                </a:moveTo>
                <a:lnTo>
                  <a:pt x="0" y="2739814"/>
                </a:lnTo>
                <a:lnTo>
                  <a:pt x="0" y="1382602"/>
                </a:lnTo>
                <a:lnTo>
                  <a:pt x="2387970" y="1382602"/>
                </a:lnTo>
                <a:close/>
                <a:moveTo>
                  <a:pt x="915885" y="3226071"/>
                </a:moveTo>
                <a:cubicBezTo>
                  <a:pt x="813300" y="3640016"/>
                  <a:pt x="231135" y="3800387"/>
                  <a:pt x="1603" y="3825455"/>
                </a:cubicBezTo>
                <a:lnTo>
                  <a:pt x="0" y="3826419"/>
                </a:lnTo>
                <a:lnTo>
                  <a:pt x="0" y="2824659"/>
                </a:lnTo>
                <a:lnTo>
                  <a:pt x="915885" y="2293409"/>
                </a:lnTo>
                <a:lnTo>
                  <a:pt x="915885" y="3226071"/>
                </a:lnTo>
                <a:close/>
              </a:path>
            </a:pathLst>
          </a:custGeom>
          <a:solidFill>
            <a:srgbClr val="03358E">
              <a:alpha val="100000"/>
            </a:srgbClr>
          </a:solidFill>
          <a:ln w="12700" cap="flat" cmpd="sng">
            <a:solidFill>
              <a:srgbClr val="03358E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A2620076-DCD6-7160-5A11-3FC077A2A7E4}"/>
              </a:ext>
            </a:extLst>
          </p:cNvPr>
          <p:cNvSpPr/>
          <p:nvPr/>
        </p:nvSpPr>
        <p:spPr>
          <a:xfrm>
            <a:off x="2298700" y="2933700"/>
            <a:ext cx="182819" cy="2259004"/>
          </a:xfrm>
          <a:custGeom>
            <a:avLst/>
            <a:gdLst/>
            <a:ahLst/>
            <a:cxnLst/>
            <a:rect l="l" t="t" r="r" b="b"/>
            <a:pathLst>
              <a:path w="182819" h="2259004">
                <a:moveTo>
                  <a:pt x="78763" y="0"/>
                </a:moveTo>
                <a:lnTo>
                  <a:pt x="78763" y="873002"/>
                </a:lnTo>
                <a:cubicBezTo>
                  <a:pt x="65956" y="877823"/>
                  <a:pt x="56991" y="890359"/>
                  <a:pt x="56991" y="905144"/>
                </a:cubicBezTo>
                <a:cubicBezTo>
                  <a:pt x="56991" y="924430"/>
                  <a:pt x="72360" y="939858"/>
                  <a:pt x="91570" y="939858"/>
                </a:cubicBezTo>
                <a:cubicBezTo>
                  <a:pt x="110460" y="939858"/>
                  <a:pt x="126148" y="924430"/>
                  <a:pt x="126148" y="905144"/>
                </a:cubicBezTo>
                <a:cubicBezTo>
                  <a:pt x="126148" y="890359"/>
                  <a:pt x="116863" y="877823"/>
                  <a:pt x="104056" y="873002"/>
                </a:cubicBezTo>
                <a:lnTo>
                  <a:pt x="104056" y="0"/>
                </a:lnTo>
                <a:lnTo>
                  <a:pt x="78763" y="0"/>
                </a:lnTo>
                <a:close/>
                <a:moveTo>
                  <a:pt x="0" y="1205038"/>
                </a:moveTo>
                <a:lnTo>
                  <a:pt x="182819" y="1205038"/>
                </a:lnTo>
                <a:lnTo>
                  <a:pt x="182819" y="1218217"/>
                </a:lnTo>
                <a:lnTo>
                  <a:pt x="0" y="1218217"/>
                </a:lnTo>
                <a:lnTo>
                  <a:pt x="0" y="1205038"/>
                </a:lnTo>
                <a:close/>
                <a:moveTo>
                  <a:pt x="0" y="1068109"/>
                </a:moveTo>
                <a:lnTo>
                  <a:pt x="0" y="1068109"/>
                </a:lnTo>
                <a:lnTo>
                  <a:pt x="0" y="1068109"/>
                </a:lnTo>
                <a:cubicBezTo>
                  <a:pt x="0" y="1017323"/>
                  <a:pt x="40982" y="976180"/>
                  <a:pt x="91570" y="976180"/>
                </a:cubicBezTo>
                <a:cubicBezTo>
                  <a:pt x="141837" y="976180"/>
                  <a:pt x="182819" y="1017323"/>
                  <a:pt x="182819" y="1068109"/>
                </a:cubicBezTo>
                <a:lnTo>
                  <a:pt x="182819" y="1068109"/>
                </a:lnTo>
                <a:lnTo>
                  <a:pt x="182819" y="1068109"/>
                </a:lnTo>
                <a:lnTo>
                  <a:pt x="182819" y="1183824"/>
                </a:lnTo>
                <a:lnTo>
                  <a:pt x="0" y="1183824"/>
                </a:lnTo>
                <a:lnTo>
                  <a:pt x="0" y="1068109"/>
                </a:lnTo>
                <a:close/>
                <a:moveTo>
                  <a:pt x="11847" y="1248752"/>
                </a:moveTo>
                <a:lnTo>
                  <a:pt x="0" y="1248752"/>
                </a:lnTo>
                <a:lnTo>
                  <a:pt x="0" y="2259004"/>
                </a:lnTo>
                <a:lnTo>
                  <a:pt x="11847" y="2259004"/>
                </a:lnTo>
                <a:lnTo>
                  <a:pt x="11847" y="1248752"/>
                </a:lnTo>
                <a:close/>
                <a:moveTo>
                  <a:pt x="40342" y="1248752"/>
                </a:moveTo>
                <a:lnTo>
                  <a:pt x="28495" y="1248752"/>
                </a:lnTo>
                <a:lnTo>
                  <a:pt x="28495" y="2259004"/>
                </a:lnTo>
                <a:lnTo>
                  <a:pt x="40342" y="2259004"/>
                </a:lnTo>
                <a:lnTo>
                  <a:pt x="40342" y="1248752"/>
                </a:lnTo>
                <a:close/>
                <a:moveTo>
                  <a:pt x="68838" y="1248752"/>
                </a:moveTo>
                <a:lnTo>
                  <a:pt x="56991" y="1248752"/>
                </a:lnTo>
                <a:lnTo>
                  <a:pt x="56991" y="2259004"/>
                </a:lnTo>
                <a:lnTo>
                  <a:pt x="68838" y="2259004"/>
                </a:lnTo>
                <a:lnTo>
                  <a:pt x="68838" y="1248752"/>
                </a:lnTo>
                <a:close/>
                <a:moveTo>
                  <a:pt x="97333" y="1248752"/>
                </a:moveTo>
                <a:lnTo>
                  <a:pt x="85486" y="1248752"/>
                </a:lnTo>
                <a:lnTo>
                  <a:pt x="85486" y="2259004"/>
                </a:lnTo>
                <a:lnTo>
                  <a:pt x="97333" y="2259004"/>
                </a:lnTo>
                <a:lnTo>
                  <a:pt x="97333" y="1248752"/>
                </a:lnTo>
                <a:close/>
                <a:moveTo>
                  <a:pt x="125828" y="1248752"/>
                </a:moveTo>
                <a:lnTo>
                  <a:pt x="113981" y="1248752"/>
                </a:lnTo>
                <a:lnTo>
                  <a:pt x="113981" y="2259004"/>
                </a:lnTo>
                <a:lnTo>
                  <a:pt x="125828" y="2259004"/>
                </a:lnTo>
                <a:lnTo>
                  <a:pt x="125828" y="1248752"/>
                </a:lnTo>
                <a:close/>
                <a:moveTo>
                  <a:pt x="154324" y="1248752"/>
                </a:moveTo>
                <a:lnTo>
                  <a:pt x="142477" y="1248752"/>
                </a:lnTo>
                <a:lnTo>
                  <a:pt x="142477" y="2259004"/>
                </a:lnTo>
                <a:lnTo>
                  <a:pt x="154324" y="2259004"/>
                </a:lnTo>
                <a:lnTo>
                  <a:pt x="154324" y="1248752"/>
                </a:lnTo>
                <a:close/>
                <a:moveTo>
                  <a:pt x="182819" y="1248752"/>
                </a:moveTo>
                <a:lnTo>
                  <a:pt x="170972" y="1248752"/>
                </a:lnTo>
                <a:lnTo>
                  <a:pt x="170972" y="2259004"/>
                </a:lnTo>
                <a:lnTo>
                  <a:pt x="182819" y="2259004"/>
                </a:lnTo>
                <a:lnTo>
                  <a:pt x="182819" y="1248752"/>
                </a:lnTo>
                <a:close/>
              </a:path>
            </a:pathLst>
          </a:custGeom>
          <a:solidFill>
            <a:srgbClr val="03358E">
              <a:alpha val="100000"/>
            </a:srgbClr>
          </a:solidFill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8400" y="622300"/>
            <a:ext cx="1524000" cy="1524000"/>
          </a:xfrm>
          <a:prstGeom prst="ellipse">
            <a:avLst/>
          </a:prstGeom>
          <a:solidFill>
            <a:srgbClr val="03358E">
              <a:alpha val="100000"/>
            </a:srgbClr>
          </a:solidFill>
          <a:ln w="1651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57300" y="914400"/>
            <a:ext cx="13589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06500" y="1536700"/>
            <a:ext cx="1447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3175" y="3517900"/>
            <a:ext cx="12188825" cy="1446568"/>
          </a:xfrm>
          <a:custGeom>
            <a:avLst/>
            <a:gdLst/>
            <a:ahLst/>
            <a:cxnLst/>
            <a:rect l="l" t="t" r="r" b="b"/>
            <a:pathLst>
              <a:path w="12188825" h="1446568">
                <a:moveTo>
                  <a:pt x="0" y="657101"/>
                </a:moveTo>
                <a:cubicBezTo>
                  <a:pt x="0" y="657101"/>
                  <a:pt x="838831" y="1422931"/>
                  <a:pt x="3031976" y="1437113"/>
                </a:cubicBezTo>
                <a:cubicBezTo>
                  <a:pt x="5107965" y="1446568"/>
                  <a:pt x="6907469" y="0"/>
                  <a:pt x="8730404" y="52001"/>
                </a:cubicBezTo>
                <a:cubicBezTo>
                  <a:pt x="10558024" y="99275"/>
                  <a:pt x="12188825" y="1224383"/>
                  <a:pt x="12188825" y="1224383"/>
                </a:cubicBezTo>
              </a:path>
            </a:pathLst>
          </a:cu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66800" y="5410200"/>
            <a:ext cx="9525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摘要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46900" y="2540000"/>
            <a:ext cx="20955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仿真与实验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89200" y="3810000"/>
            <a:ext cx="23241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33900" y="4813300"/>
            <a:ext cx="27051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Dart系统设计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2200" y="4178300"/>
            <a:ext cx="1003300" cy="1003300"/>
          </a:xfrm>
          <a:prstGeom prst="ellipse">
            <a:avLst/>
          </a:prstGeom>
          <a:solidFill>
            <a:srgbClr val="03358E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57300" y="4330700"/>
            <a:ext cx="6350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928100" y="4584700"/>
            <a:ext cx="2870200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38500" y="4343400"/>
            <a:ext cx="1003300" cy="1003300"/>
          </a:xfrm>
          <a:prstGeom prst="ellipse">
            <a:avLst/>
          </a:prstGeom>
          <a:solidFill>
            <a:srgbClr val="03358E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429000" y="4533900"/>
            <a:ext cx="6350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321300" y="3632200"/>
            <a:ext cx="1003300" cy="1003300"/>
          </a:xfrm>
          <a:prstGeom prst="ellipse">
            <a:avLst/>
          </a:prstGeom>
          <a:solidFill>
            <a:srgbClr val="03358E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5880100" y="3797300"/>
            <a:ext cx="128957" cy="439348"/>
          </a:xfrm>
          <a:custGeom>
            <a:avLst/>
            <a:gdLst/>
            <a:ahLst/>
            <a:cxnLst/>
            <a:rect l="l" t="t" r="r" b="b"/>
            <a:pathLst>
              <a:path w="128957" h="439348">
                <a:moveTo>
                  <a:pt x="5998" y="439348"/>
                </a:moveTo>
                <a:cubicBezTo>
                  <a:pt x="5998" y="439348"/>
                  <a:pt x="5998" y="439348"/>
                  <a:pt x="8997" y="439348"/>
                </a:cubicBezTo>
                <a:cubicBezTo>
                  <a:pt x="8997" y="439348"/>
                  <a:pt x="8997" y="439348"/>
                  <a:pt x="8997" y="439348"/>
                </a:cubicBezTo>
                <a:cubicBezTo>
                  <a:pt x="8997" y="439348"/>
                  <a:pt x="8997" y="439348"/>
                  <a:pt x="8997" y="439348"/>
                </a:cubicBezTo>
                <a:cubicBezTo>
                  <a:pt x="8997" y="439348"/>
                  <a:pt x="11996" y="439348"/>
                  <a:pt x="11996" y="439348"/>
                </a:cubicBezTo>
                <a:cubicBezTo>
                  <a:pt x="11996" y="439348"/>
                  <a:pt x="11996" y="439348"/>
                  <a:pt x="11996" y="439348"/>
                </a:cubicBezTo>
                <a:cubicBezTo>
                  <a:pt x="11996" y="439348"/>
                  <a:pt x="14995" y="435527"/>
                  <a:pt x="14995" y="435527"/>
                </a:cubicBezTo>
                <a:cubicBezTo>
                  <a:pt x="65978" y="374401"/>
                  <a:pt x="65978" y="374401"/>
                  <a:pt x="65978" y="374401"/>
                </a:cubicBezTo>
                <a:cubicBezTo>
                  <a:pt x="113962" y="435527"/>
                  <a:pt x="113962" y="435527"/>
                  <a:pt x="113962" y="435527"/>
                </a:cubicBezTo>
                <a:cubicBezTo>
                  <a:pt x="113962" y="435527"/>
                  <a:pt x="116961" y="439348"/>
                  <a:pt x="116961" y="439348"/>
                </a:cubicBezTo>
                <a:cubicBezTo>
                  <a:pt x="116961" y="439348"/>
                  <a:pt x="116961" y="439348"/>
                  <a:pt x="116961" y="439348"/>
                </a:cubicBezTo>
                <a:cubicBezTo>
                  <a:pt x="119960" y="439348"/>
                  <a:pt x="119960" y="439348"/>
                  <a:pt x="119960" y="439348"/>
                </a:cubicBezTo>
                <a:cubicBezTo>
                  <a:pt x="119960" y="439348"/>
                  <a:pt x="119960" y="439348"/>
                  <a:pt x="119960" y="439348"/>
                </a:cubicBezTo>
                <a:cubicBezTo>
                  <a:pt x="119960" y="439348"/>
                  <a:pt x="119960" y="439348"/>
                  <a:pt x="119960" y="439348"/>
                </a:cubicBezTo>
                <a:cubicBezTo>
                  <a:pt x="122959" y="439348"/>
                  <a:pt x="122959" y="439348"/>
                  <a:pt x="122959" y="439348"/>
                </a:cubicBezTo>
                <a:cubicBezTo>
                  <a:pt x="125959" y="439348"/>
                  <a:pt x="125959" y="435527"/>
                  <a:pt x="125959" y="435527"/>
                </a:cubicBezTo>
                <a:cubicBezTo>
                  <a:pt x="128957" y="435527"/>
                  <a:pt x="128957" y="431707"/>
                  <a:pt x="128957" y="427887"/>
                </a:cubicBezTo>
                <a:cubicBezTo>
                  <a:pt x="128957" y="103151"/>
                  <a:pt x="128957" y="103151"/>
                  <a:pt x="128957" y="103151"/>
                </a:cubicBezTo>
                <a:cubicBezTo>
                  <a:pt x="128957" y="49666"/>
                  <a:pt x="128957" y="49666"/>
                  <a:pt x="128957" y="49666"/>
                </a:cubicBezTo>
                <a:cubicBezTo>
                  <a:pt x="128957" y="11462"/>
                  <a:pt x="128957" y="11462"/>
                  <a:pt x="128957" y="11462"/>
                </a:cubicBezTo>
                <a:cubicBezTo>
                  <a:pt x="128957" y="11462"/>
                  <a:pt x="128957" y="7640"/>
                  <a:pt x="125959" y="3820"/>
                </a:cubicBezTo>
                <a:cubicBezTo>
                  <a:pt x="125959" y="3820"/>
                  <a:pt x="122959" y="0"/>
                  <a:pt x="119960" y="0"/>
                </a:cubicBezTo>
                <a:cubicBezTo>
                  <a:pt x="8997" y="0"/>
                  <a:pt x="8997" y="0"/>
                  <a:pt x="8997" y="0"/>
                </a:cubicBezTo>
                <a:cubicBezTo>
                  <a:pt x="8997" y="0"/>
                  <a:pt x="8997" y="0"/>
                  <a:pt x="8997" y="0"/>
                </a:cubicBezTo>
                <a:cubicBezTo>
                  <a:pt x="8997" y="0"/>
                  <a:pt x="5998" y="0"/>
                  <a:pt x="5998" y="3820"/>
                </a:cubicBezTo>
                <a:cubicBezTo>
                  <a:pt x="5998" y="3820"/>
                  <a:pt x="5998" y="3820"/>
                  <a:pt x="5998" y="3820"/>
                </a:cubicBezTo>
                <a:cubicBezTo>
                  <a:pt x="2998" y="3820"/>
                  <a:pt x="0" y="7640"/>
                  <a:pt x="0" y="11462"/>
                </a:cubicBezTo>
                <a:cubicBezTo>
                  <a:pt x="0" y="49666"/>
                  <a:pt x="0" y="49666"/>
                  <a:pt x="0" y="49666"/>
                </a:cubicBezTo>
                <a:cubicBezTo>
                  <a:pt x="0" y="103151"/>
                  <a:pt x="0" y="103151"/>
                  <a:pt x="0" y="103151"/>
                </a:cubicBezTo>
                <a:cubicBezTo>
                  <a:pt x="0" y="427887"/>
                  <a:pt x="0" y="427887"/>
                  <a:pt x="0" y="427887"/>
                </a:cubicBezTo>
                <a:cubicBezTo>
                  <a:pt x="0" y="431707"/>
                  <a:pt x="2998" y="435527"/>
                  <a:pt x="5998" y="439348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588000" y="4025900"/>
            <a:ext cx="159005" cy="19033"/>
          </a:xfrm>
          <a:custGeom>
            <a:avLst/>
            <a:gdLst/>
            <a:ahLst/>
            <a:cxnLst/>
            <a:rect l="l" t="t" r="r" b="b"/>
            <a:pathLst>
              <a:path w="159005" h="19033">
                <a:moveTo>
                  <a:pt x="0" y="11420"/>
                </a:moveTo>
                <a:cubicBezTo>
                  <a:pt x="0" y="15226"/>
                  <a:pt x="6001" y="19033"/>
                  <a:pt x="9000" y="19033"/>
                </a:cubicBezTo>
                <a:cubicBezTo>
                  <a:pt x="150005" y="19033"/>
                  <a:pt x="150005" y="19033"/>
                  <a:pt x="150005" y="19033"/>
                </a:cubicBezTo>
                <a:cubicBezTo>
                  <a:pt x="156006" y="19033"/>
                  <a:pt x="159005" y="15226"/>
                  <a:pt x="159005" y="11420"/>
                </a:cubicBezTo>
                <a:cubicBezTo>
                  <a:pt x="159005" y="3806"/>
                  <a:pt x="156006" y="0"/>
                  <a:pt x="150005" y="0"/>
                </a:cubicBezTo>
                <a:cubicBezTo>
                  <a:pt x="9000" y="0"/>
                  <a:pt x="9000" y="0"/>
                  <a:pt x="9000" y="0"/>
                </a:cubicBezTo>
                <a:cubicBezTo>
                  <a:pt x="6001" y="0"/>
                  <a:pt x="0" y="3806"/>
                  <a:pt x="0" y="11420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588000" y="4114800"/>
            <a:ext cx="159005" cy="19033"/>
          </a:xfrm>
          <a:custGeom>
            <a:avLst/>
            <a:gdLst/>
            <a:ahLst/>
            <a:cxnLst/>
            <a:rect l="l" t="t" r="r" b="b"/>
            <a:pathLst>
              <a:path w="159005" h="19033">
                <a:moveTo>
                  <a:pt x="150005" y="0"/>
                </a:moveTo>
                <a:cubicBezTo>
                  <a:pt x="9000" y="0"/>
                  <a:pt x="9000" y="0"/>
                  <a:pt x="9000" y="0"/>
                </a:cubicBezTo>
                <a:cubicBezTo>
                  <a:pt x="6001" y="0"/>
                  <a:pt x="0" y="3806"/>
                  <a:pt x="0" y="7614"/>
                </a:cubicBezTo>
                <a:cubicBezTo>
                  <a:pt x="0" y="15226"/>
                  <a:pt x="6001" y="19033"/>
                  <a:pt x="9000" y="19033"/>
                </a:cubicBezTo>
                <a:cubicBezTo>
                  <a:pt x="150005" y="19033"/>
                  <a:pt x="150005" y="19033"/>
                  <a:pt x="150005" y="19033"/>
                </a:cubicBezTo>
                <a:cubicBezTo>
                  <a:pt x="156006" y="19033"/>
                  <a:pt x="159005" y="15226"/>
                  <a:pt x="159005" y="7614"/>
                </a:cubicBezTo>
                <a:cubicBezTo>
                  <a:pt x="159005" y="3806"/>
                  <a:pt x="156006" y="0"/>
                  <a:pt x="150005" y="0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5588000" y="4203700"/>
            <a:ext cx="159005" cy="19033"/>
          </a:xfrm>
          <a:custGeom>
            <a:avLst/>
            <a:gdLst/>
            <a:ahLst/>
            <a:cxnLst/>
            <a:rect l="l" t="t" r="r" b="b"/>
            <a:pathLst>
              <a:path w="159005" h="19033">
                <a:moveTo>
                  <a:pt x="150005" y="0"/>
                </a:moveTo>
                <a:cubicBezTo>
                  <a:pt x="9000" y="0"/>
                  <a:pt x="9000" y="0"/>
                  <a:pt x="9000" y="0"/>
                </a:cubicBezTo>
                <a:cubicBezTo>
                  <a:pt x="6001" y="0"/>
                  <a:pt x="0" y="3806"/>
                  <a:pt x="0" y="7614"/>
                </a:cubicBezTo>
                <a:cubicBezTo>
                  <a:pt x="0" y="15226"/>
                  <a:pt x="6001" y="19033"/>
                  <a:pt x="9000" y="19033"/>
                </a:cubicBezTo>
                <a:cubicBezTo>
                  <a:pt x="150005" y="19033"/>
                  <a:pt x="150005" y="19033"/>
                  <a:pt x="150005" y="19033"/>
                </a:cubicBezTo>
                <a:cubicBezTo>
                  <a:pt x="156006" y="19033"/>
                  <a:pt x="159005" y="15226"/>
                  <a:pt x="159005" y="7614"/>
                </a:cubicBezTo>
                <a:cubicBezTo>
                  <a:pt x="159005" y="3806"/>
                  <a:pt x="156006" y="0"/>
                  <a:pt x="150005" y="0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511800" y="3848100"/>
            <a:ext cx="600963" cy="569408"/>
          </a:xfrm>
          <a:custGeom>
            <a:avLst/>
            <a:gdLst/>
            <a:ahLst/>
            <a:cxnLst/>
            <a:rect l="l" t="t" r="r" b="b"/>
            <a:pathLst>
              <a:path w="600963" h="569408">
                <a:moveTo>
                  <a:pt x="531852" y="11464"/>
                </a:moveTo>
                <a:cubicBezTo>
                  <a:pt x="531852" y="64966"/>
                  <a:pt x="531852" y="64966"/>
                  <a:pt x="531852" y="64966"/>
                </a:cubicBezTo>
                <a:cubicBezTo>
                  <a:pt x="543871" y="68787"/>
                  <a:pt x="555890" y="76431"/>
                  <a:pt x="558895" y="80253"/>
                </a:cubicBezTo>
                <a:cubicBezTo>
                  <a:pt x="558895" y="512086"/>
                  <a:pt x="558895" y="512086"/>
                  <a:pt x="558895" y="512086"/>
                </a:cubicBezTo>
                <a:cubicBezTo>
                  <a:pt x="483775" y="496799"/>
                  <a:pt x="393630" y="496799"/>
                  <a:pt x="321516" y="512086"/>
                </a:cubicBezTo>
                <a:cubicBezTo>
                  <a:pt x="321516" y="80253"/>
                  <a:pt x="321516" y="80253"/>
                  <a:pt x="321516" y="80253"/>
                </a:cubicBezTo>
                <a:cubicBezTo>
                  <a:pt x="324521" y="76431"/>
                  <a:pt x="333535" y="68787"/>
                  <a:pt x="351564" y="64966"/>
                </a:cubicBezTo>
                <a:cubicBezTo>
                  <a:pt x="351564" y="11464"/>
                  <a:pt x="351564" y="11464"/>
                  <a:pt x="351564" y="11464"/>
                </a:cubicBezTo>
                <a:cubicBezTo>
                  <a:pt x="330530" y="15286"/>
                  <a:pt x="312501" y="22929"/>
                  <a:pt x="300482" y="34394"/>
                </a:cubicBezTo>
                <a:cubicBezTo>
                  <a:pt x="270434" y="7643"/>
                  <a:pt x="210337" y="0"/>
                  <a:pt x="159255" y="0"/>
                </a:cubicBezTo>
                <a:cubicBezTo>
                  <a:pt x="87140" y="0"/>
                  <a:pt x="0" y="19107"/>
                  <a:pt x="0" y="76431"/>
                </a:cubicBezTo>
                <a:cubicBezTo>
                  <a:pt x="0" y="542657"/>
                  <a:pt x="0" y="542657"/>
                  <a:pt x="0" y="542657"/>
                </a:cubicBezTo>
                <a:cubicBezTo>
                  <a:pt x="0" y="550300"/>
                  <a:pt x="3005" y="557944"/>
                  <a:pt x="6010" y="561765"/>
                </a:cubicBezTo>
                <a:cubicBezTo>
                  <a:pt x="12019" y="565587"/>
                  <a:pt x="18029" y="569408"/>
                  <a:pt x="24039" y="569408"/>
                </a:cubicBezTo>
                <a:cubicBezTo>
                  <a:pt x="66106" y="557944"/>
                  <a:pt x="111178" y="554121"/>
                  <a:pt x="159255" y="554121"/>
                </a:cubicBezTo>
                <a:cubicBezTo>
                  <a:pt x="207333" y="554121"/>
                  <a:pt x="255410" y="557944"/>
                  <a:pt x="297477" y="569408"/>
                </a:cubicBezTo>
                <a:cubicBezTo>
                  <a:pt x="297477" y="569408"/>
                  <a:pt x="297477" y="569408"/>
                  <a:pt x="297477" y="569408"/>
                </a:cubicBezTo>
                <a:cubicBezTo>
                  <a:pt x="297477" y="569408"/>
                  <a:pt x="297477" y="569408"/>
                  <a:pt x="300482" y="569408"/>
                </a:cubicBezTo>
                <a:cubicBezTo>
                  <a:pt x="300482" y="569408"/>
                  <a:pt x="300482" y="569408"/>
                  <a:pt x="300482" y="569408"/>
                </a:cubicBezTo>
                <a:cubicBezTo>
                  <a:pt x="300482" y="569408"/>
                  <a:pt x="300482" y="569408"/>
                  <a:pt x="303487" y="569408"/>
                </a:cubicBezTo>
                <a:cubicBezTo>
                  <a:pt x="303487" y="569408"/>
                  <a:pt x="303487" y="569408"/>
                  <a:pt x="303487" y="569408"/>
                </a:cubicBezTo>
                <a:cubicBezTo>
                  <a:pt x="345554" y="557944"/>
                  <a:pt x="390625" y="554121"/>
                  <a:pt x="438702" y="554121"/>
                </a:cubicBezTo>
                <a:cubicBezTo>
                  <a:pt x="486780" y="554121"/>
                  <a:pt x="534857" y="557944"/>
                  <a:pt x="576924" y="569408"/>
                </a:cubicBezTo>
                <a:cubicBezTo>
                  <a:pt x="576924" y="569408"/>
                  <a:pt x="576924" y="569408"/>
                  <a:pt x="579929" y="569408"/>
                </a:cubicBezTo>
                <a:cubicBezTo>
                  <a:pt x="582934" y="569408"/>
                  <a:pt x="588943" y="565587"/>
                  <a:pt x="591948" y="561765"/>
                </a:cubicBezTo>
                <a:cubicBezTo>
                  <a:pt x="597958" y="557944"/>
                  <a:pt x="600963" y="550300"/>
                  <a:pt x="600963" y="542657"/>
                </a:cubicBezTo>
                <a:cubicBezTo>
                  <a:pt x="600963" y="76431"/>
                  <a:pt x="600963" y="76431"/>
                  <a:pt x="600963" y="76431"/>
                </a:cubicBezTo>
                <a:cubicBezTo>
                  <a:pt x="600963" y="42037"/>
                  <a:pt x="570915" y="22929"/>
                  <a:pt x="531852" y="11464"/>
                </a:cubicBezTo>
                <a:close/>
                <a:moveTo>
                  <a:pt x="279448" y="512086"/>
                </a:moveTo>
                <a:cubicBezTo>
                  <a:pt x="240386" y="504441"/>
                  <a:pt x="201323" y="500620"/>
                  <a:pt x="159255" y="500620"/>
                </a:cubicBezTo>
                <a:cubicBezTo>
                  <a:pt x="120193" y="500620"/>
                  <a:pt x="78125" y="504441"/>
                  <a:pt x="42067" y="512086"/>
                </a:cubicBezTo>
                <a:cubicBezTo>
                  <a:pt x="42067" y="80253"/>
                  <a:pt x="42067" y="80253"/>
                  <a:pt x="42067" y="80253"/>
                </a:cubicBezTo>
                <a:cubicBezTo>
                  <a:pt x="48077" y="68787"/>
                  <a:pt x="90145" y="53501"/>
                  <a:pt x="159255" y="53501"/>
                </a:cubicBezTo>
                <a:cubicBezTo>
                  <a:pt x="228366" y="53501"/>
                  <a:pt x="270434" y="68787"/>
                  <a:pt x="279448" y="80253"/>
                </a:cubicBezTo>
                <a:lnTo>
                  <a:pt x="279448" y="512086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531100" y="3149600"/>
            <a:ext cx="1003300" cy="1003300"/>
          </a:xfrm>
          <a:prstGeom prst="ellipse">
            <a:avLst/>
          </a:prstGeom>
          <a:solidFill>
            <a:srgbClr val="03358E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7747000" y="3302000"/>
            <a:ext cx="551539" cy="669515"/>
          </a:xfrm>
          <a:custGeom>
            <a:avLst/>
            <a:gdLst/>
            <a:ahLst/>
            <a:cxnLst/>
            <a:rect l="l" t="t" r="r" b="b"/>
            <a:pathLst>
              <a:path w="551539" h="669515">
                <a:moveTo>
                  <a:pt x="526632" y="24797"/>
                </a:moveTo>
                <a:cubicBezTo>
                  <a:pt x="451907" y="24797"/>
                  <a:pt x="451907" y="24797"/>
                  <a:pt x="451907" y="24797"/>
                </a:cubicBezTo>
                <a:cubicBezTo>
                  <a:pt x="451907" y="10627"/>
                  <a:pt x="451907" y="10627"/>
                  <a:pt x="451907" y="10627"/>
                </a:cubicBezTo>
                <a:cubicBezTo>
                  <a:pt x="451907" y="3542"/>
                  <a:pt x="448348" y="0"/>
                  <a:pt x="441232" y="0"/>
                </a:cubicBezTo>
                <a:cubicBezTo>
                  <a:pt x="437674" y="0"/>
                  <a:pt x="434115" y="3542"/>
                  <a:pt x="434115" y="10627"/>
                </a:cubicBezTo>
                <a:cubicBezTo>
                  <a:pt x="434115" y="24797"/>
                  <a:pt x="434115" y="24797"/>
                  <a:pt x="434115" y="24797"/>
                </a:cubicBezTo>
                <a:cubicBezTo>
                  <a:pt x="341600" y="24797"/>
                  <a:pt x="341600" y="24797"/>
                  <a:pt x="341600" y="24797"/>
                </a:cubicBezTo>
                <a:cubicBezTo>
                  <a:pt x="341600" y="10627"/>
                  <a:pt x="341600" y="10627"/>
                  <a:pt x="341600" y="10627"/>
                </a:cubicBezTo>
                <a:cubicBezTo>
                  <a:pt x="341600" y="3542"/>
                  <a:pt x="334482" y="0"/>
                  <a:pt x="330924" y="0"/>
                </a:cubicBezTo>
                <a:cubicBezTo>
                  <a:pt x="323807" y="0"/>
                  <a:pt x="320250" y="3542"/>
                  <a:pt x="320250" y="10627"/>
                </a:cubicBezTo>
                <a:cubicBezTo>
                  <a:pt x="320250" y="24797"/>
                  <a:pt x="320250" y="24797"/>
                  <a:pt x="320250" y="24797"/>
                </a:cubicBezTo>
                <a:cubicBezTo>
                  <a:pt x="227733" y="24797"/>
                  <a:pt x="227733" y="24797"/>
                  <a:pt x="227733" y="24797"/>
                </a:cubicBezTo>
                <a:cubicBezTo>
                  <a:pt x="227733" y="10627"/>
                  <a:pt x="227733" y="10627"/>
                  <a:pt x="227733" y="10627"/>
                </a:cubicBezTo>
                <a:cubicBezTo>
                  <a:pt x="227733" y="3542"/>
                  <a:pt x="224174" y="0"/>
                  <a:pt x="220616" y="0"/>
                </a:cubicBezTo>
                <a:cubicBezTo>
                  <a:pt x="213500" y="0"/>
                  <a:pt x="209941" y="3542"/>
                  <a:pt x="209941" y="10627"/>
                </a:cubicBezTo>
                <a:cubicBezTo>
                  <a:pt x="209941" y="24797"/>
                  <a:pt x="209941" y="24797"/>
                  <a:pt x="209941" y="24797"/>
                </a:cubicBezTo>
                <a:cubicBezTo>
                  <a:pt x="117424" y="24797"/>
                  <a:pt x="117424" y="24797"/>
                  <a:pt x="117424" y="24797"/>
                </a:cubicBezTo>
                <a:cubicBezTo>
                  <a:pt x="117424" y="10627"/>
                  <a:pt x="117424" y="10627"/>
                  <a:pt x="117424" y="10627"/>
                </a:cubicBezTo>
                <a:cubicBezTo>
                  <a:pt x="117424" y="3542"/>
                  <a:pt x="113867" y="0"/>
                  <a:pt x="106750" y="0"/>
                </a:cubicBezTo>
                <a:cubicBezTo>
                  <a:pt x="103191" y="0"/>
                  <a:pt x="96074" y="3542"/>
                  <a:pt x="96074" y="10627"/>
                </a:cubicBezTo>
                <a:cubicBezTo>
                  <a:pt x="96074" y="24797"/>
                  <a:pt x="96074" y="24797"/>
                  <a:pt x="96074" y="24797"/>
                </a:cubicBezTo>
                <a:cubicBezTo>
                  <a:pt x="24909" y="24797"/>
                  <a:pt x="24909" y="24797"/>
                  <a:pt x="24909" y="24797"/>
                </a:cubicBezTo>
                <a:cubicBezTo>
                  <a:pt x="10674" y="24797"/>
                  <a:pt x="0" y="35424"/>
                  <a:pt x="0" y="46051"/>
                </a:cubicBezTo>
                <a:cubicBezTo>
                  <a:pt x="0" y="644718"/>
                  <a:pt x="0" y="644718"/>
                  <a:pt x="0" y="644718"/>
                </a:cubicBezTo>
                <a:cubicBezTo>
                  <a:pt x="0" y="658887"/>
                  <a:pt x="10674" y="669515"/>
                  <a:pt x="24909" y="669515"/>
                </a:cubicBezTo>
                <a:cubicBezTo>
                  <a:pt x="526632" y="669515"/>
                  <a:pt x="526632" y="669515"/>
                  <a:pt x="526632" y="669515"/>
                </a:cubicBezTo>
                <a:cubicBezTo>
                  <a:pt x="540865" y="669515"/>
                  <a:pt x="551539" y="658887"/>
                  <a:pt x="551539" y="644718"/>
                </a:cubicBezTo>
                <a:cubicBezTo>
                  <a:pt x="551539" y="46051"/>
                  <a:pt x="551539" y="46051"/>
                  <a:pt x="551539" y="46051"/>
                </a:cubicBezTo>
                <a:cubicBezTo>
                  <a:pt x="551539" y="35424"/>
                  <a:pt x="540865" y="24797"/>
                  <a:pt x="526632" y="24797"/>
                </a:cubicBezTo>
                <a:close/>
                <a:moveTo>
                  <a:pt x="441232" y="141696"/>
                </a:moveTo>
                <a:cubicBezTo>
                  <a:pt x="448348" y="141696"/>
                  <a:pt x="451907" y="138154"/>
                  <a:pt x="451907" y="131069"/>
                </a:cubicBezTo>
                <a:cubicBezTo>
                  <a:pt x="451907" y="109814"/>
                  <a:pt x="451907" y="109814"/>
                  <a:pt x="451907" y="109814"/>
                </a:cubicBezTo>
                <a:cubicBezTo>
                  <a:pt x="462582" y="113358"/>
                  <a:pt x="466141" y="123984"/>
                  <a:pt x="466141" y="131069"/>
                </a:cubicBezTo>
                <a:cubicBezTo>
                  <a:pt x="466141" y="145238"/>
                  <a:pt x="455465" y="155866"/>
                  <a:pt x="441232" y="155866"/>
                </a:cubicBezTo>
                <a:cubicBezTo>
                  <a:pt x="426998" y="155866"/>
                  <a:pt x="416324" y="145238"/>
                  <a:pt x="416324" y="131069"/>
                </a:cubicBezTo>
                <a:cubicBezTo>
                  <a:pt x="416324" y="120442"/>
                  <a:pt x="423441" y="113358"/>
                  <a:pt x="434115" y="109814"/>
                </a:cubicBezTo>
                <a:cubicBezTo>
                  <a:pt x="434115" y="131069"/>
                  <a:pt x="434115" y="131069"/>
                  <a:pt x="434115" y="131069"/>
                </a:cubicBezTo>
                <a:cubicBezTo>
                  <a:pt x="434115" y="138154"/>
                  <a:pt x="437674" y="141696"/>
                  <a:pt x="441232" y="141696"/>
                </a:cubicBezTo>
                <a:close/>
                <a:moveTo>
                  <a:pt x="330924" y="141696"/>
                </a:moveTo>
                <a:cubicBezTo>
                  <a:pt x="334482" y="141696"/>
                  <a:pt x="341600" y="138154"/>
                  <a:pt x="341600" y="131069"/>
                </a:cubicBezTo>
                <a:cubicBezTo>
                  <a:pt x="341600" y="109814"/>
                  <a:pt x="341600" y="109814"/>
                  <a:pt x="341600" y="109814"/>
                </a:cubicBezTo>
                <a:cubicBezTo>
                  <a:pt x="348715" y="113358"/>
                  <a:pt x="355832" y="123984"/>
                  <a:pt x="355832" y="131069"/>
                </a:cubicBezTo>
                <a:cubicBezTo>
                  <a:pt x="355832" y="145238"/>
                  <a:pt x="345157" y="155866"/>
                  <a:pt x="330924" y="155866"/>
                </a:cubicBezTo>
                <a:cubicBezTo>
                  <a:pt x="316691" y="155866"/>
                  <a:pt x="306015" y="145238"/>
                  <a:pt x="306015" y="131069"/>
                </a:cubicBezTo>
                <a:cubicBezTo>
                  <a:pt x="306015" y="120442"/>
                  <a:pt x="313132" y="113358"/>
                  <a:pt x="320250" y="109814"/>
                </a:cubicBezTo>
                <a:cubicBezTo>
                  <a:pt x="320250" y="131069"/>
                  <a:pt x="320250" y="131069"/>
                  <a:pt x="320250" y="131069"/>
                </a:cubicBezTo>
                <a:cubicBezTo>
                  <a:pt x="320250" y="138154"/>
                  <a:pt x="323807" y="141696"/>
                  <a:pt x="330924" y="141696"/>
                </a:cubicBezTo>
                <a:close/>
                <a:moveTo>
                  <a:pt x="220616" y="141696"/>
                </a:moveTo>
                <a:cubicBezTo>
                  <a:pt x="224174" y="141696"/>
                  <a:pt x="227733" y="138154"/>
                  <a:pt x="227733" y="131069"/>
                </a:cubicBezTo>
                <a:cubicBezTo>
                  <a:pt x="227733" y="109814"/>
                  <a:pt x="227733" y="109814"/>
                  <a:pt x="227733" y="109814"/>
                </a:cubicBezTo>
                <a:cubicBezTo>
                  <a:pt x="238408" y="113358"/>
                  <a:pt x="245524" y="123984"/>
                  <a:pt x="245524" y="131069"/>
                </a:cubicBezTo>
                <a:cubicBezTo>
                  <a:pt x="245524" y="145238"/>
                  <a:pt x="231291" y="155866"/>
                  <a:pt x="220616" y="155866"/>
                </a:cubicBezTo>
                <a:cubicBezTo>
                  <a:pt x="206383" y="155866"/>
                  <a:pt x="192150" y="145238"/>
                  <a:pt x="192150" y="131069"/>
                </a:cubicBezTo>
                <a:cubicBezTo>
                  <a:pt x="192150" y="120442"/>
                  <a:pt x="199266" y="113358"/>
                  <a:pt x="209941" y="109814"/>
                </a:cubicBezTo>
                <a:cubicBezTo>
                  <a:pt x="209941" y="131069"/>
                  <a:pt x="209941" y="131069"/>
                  <a:pt x="209941" y="131069"/>
                </a:cubicBezTo>
                <a:cubicBezTo>
                  <a:pt x="209941" y="138154"/>
                  <a:pt x="213500" y="141696"/>
                  <a:pt x="220616" y="141696"/>
                </a:cubicBezTo>
                <a:close/>
                <a:moveTo>
                  <a:pt x="106750" y="141696"/>
                </a:moveTo>
                <a:cubicBezTo>
                  <a:pt x="113867" y="141696"/>
                  <a:pt x="117424" y="138154"/>
                  <a:pt x="117424" y="131069"/>
                </a:cubicBezTo>
                <a:cubicBezTo>
                  <a:pt x="117424" y="109814"/>
                  <a:pt x="117424" y="109814"/>
                  <a:pt x="117424" y="109814"/>
                </a:cubicBezTo>
                <a:cubicBezTo>
                  <a:pt x="124541" y="113358"/>
                  <a:pt x="131658" y="123984"/>
                  <a:pt x="131658" y="131069"/>
                </a:cubicBezTo>
                <a:cubicBezTo>
                  <a:pt x="131658" y="145238"/>
                  <a:pt x="120983" y="155866"/>
                  <a:pt x="106750" y="155866"/>
                </a:cubicBezTo>
                <a:cubicBezTo>
                  <a:pt x="92517" y="155866"/>
                  <a:pt x="81841" y="145238"/>
                  <a:pt x="81841" y="131069"/>
                </a:cubicBezTo>
                <a:cubicBezTo>
                  <a:pt x="81841" y="120442"/>
                  <a:pt x="88958" y="113358"/>
                  <a:pt x="96074" y="109814"/>
                </a:cubicBezTo>
                <a:cubicBezTo>
                  <a:pt x="96074" y="131069"/>
                  <a:pt x="96074" y="131069"/>
                  <a:pt x="96074" y="131069"/>
                </a:cubicBezTo>
                <a:cubicBezTo>
                  <a:pt x="96074" y="138154"/>
                  <a:pt x="103191" y="141696"/>
                  <a:pt x="106750" y="141696"/>
                </a:cubicBezTo>
                <a:close/>
                <a:moveTo>
                  <a:pt x="501724" y="619921"/>
                </a:moveTo>
                <a:cubicBezTo>
                  <a:pt x="49817" y="619921"/>
                  <a:pt x="49817" y="619921"/>
                  <a:pt x="49817" y="619921"/>
                </a:cubicBezTo>
                <a:cubicBezTo>
                  <a:pt x="49817" y="70848"/>
                  <a:pt x="49817" y="70848"/>
                  <a:pt x="49817" y="70848"/>
                </a:cubicBezTo>
                <a:cubicBezTo>
                  <a:pt x="96074" y="70848"/>
                  <a:pt x="96074" y="70848"/>
                  <a:pt x="96074" y="70848"/>
                </a:cubicBezTo>
                <a:cubicBezTo>
                  <a:pt x="96074" y="88560"/>
                  <a:pt x="96074" y="88560"/>
                  <a:pt x="96074" y="88560"/>
                </a:cubicBezTo>
                <a:cubicBezTo>
                  <a:pt x="78283" y="92103"/>
                  <a:pt x="64050" y="109814"/>
                  <a:pt x="64050" y="131069"/>
                </a:cubicBezTo>
                <a:cubicBezTo>
                  <a:pt x="64050" y="155866"/>
                  <a:pt x="81841" y="177121"/>
                  <a:pt x="106750" y="177121"/>
                </a:cubicBezTo>
                <a:cubicBezTo>
                  <a:pt x="131658" y="177121"/>
                  <a:pt x="153008" y="155866"/>
                  <a:pt x="153008" y="131069"/>
                </a:cubicBezTo>
                <a:cubicBezTo>
                  <a:pt x="153008" y="109814"/>
                  <a:pt x="138774" y="92103"/>
                  <a:pt x="117424" y="88560"/>
                </a:cubicBezTo>
                <a:cubicBezTo>
                  <a:pt x="117424" y="70848"/>
                  <a:pt x="117424" y="70848"/>
                  <a:pt x="117424" y="70848"/>
                </a:cubicBezTo>
                <a:cubicBezTo>
                  <a:pt x="209941" y="70848"/>
                  <a:pt x="209941" y="70848"/>
                  <a:pt x="209941" y="70848"/>
                </a:cubicBezTo>
                <a:cubicBezTo>
                  <a:pt x="209941" y="88560"/>
                  <a:pt x="209941" y="88560"/>
                  <a:pt x="209941" y="88560"/>
                </a:cubicBezTo>
                <a:cubicBezTo>
                  <a:pt x="188591" y="92103"/>
                  <a:pt x="174358" y="109814"/>
                  <a:pt x="174358" y="131069"/>
                </a:cubicBezTo>
                <a:cubicBezTo>
                  <a:pt x="174358" y="155866"/>
                  <a:pt x="195708" y="177121"/>
                  <a:pt x="220616" y="177121"/>
                </a:cubicBezTo>
                <a:cubicBezTo>
                  <a:pt x="241965" y="177121"/>
                  <a:pt x="263315" y="155866"/>
                  <a:pt x="263315" y="131069"/>
                </a:cubicBezTo>
                <a:cubicBezTo>
                  <a:pt x="263315" y="109814"/>
                  <a:pt x="249083" y="92103"/>
                  <a:pt x="227733" y="88560"/>
                </a:cubicBezTo>
                <a:cubicBezTo>
                  <a:pt x="227733" y="70848"/>
                  <a:pt x="227733" y="70848"/>
                  <a:pt x="227733" y="70848"/>
                </a:cubicBezTo>
                <a:cubicBezTo>
                  <a:pt x="320250" y="70848"/>
                  <a:pt x="320250" y="70848"/>
                  <a:pt x="320250" y="70848"/>
                </a:cubicBezTo>
                <a:cubicBezTo>
                  <a:pt x="320250" y="88560"/>
                  <a:pt x="320250" y="88560"/>
                  <a:pt x="320250" y="88560"/>
                </a:cubicBezTo>
                <a:cubicBezTo>
                  <a:pt x="302457" y="92103"/>
                  <a:pt x="284665" y="109814"/>
                  <a:pt x="284665" y="131069"/>
                </a:cubicBezTo>
                <a:cubicBezTo>
                  <a:pt x="284665" y="155866"/>
                  <a:pt x="306015" y="177121"/>
                  <a:pt x="330924" y="177121"/>
                </a:cubicBezTo>
                <a:cubicBezTo>
                  <a:pt x="355832" y="177121"/>
                  <a:pt x="373624" y="155866"/>
                  <a:pt x="373624" y="131069"/>
                </a:cubicBezTo>
                <a:cubicBezTo>
                  <a:pt x="373624" y="109814"/>
                  <a:pt x="359391" y="92103"/>
                  <a:pt x="341600" y="88560"/>
                </a:cubicBezTo>
                <a:cubicBezTo>
                  <a:pt x="341600" y="70848"/>
                  <a:pt x="341600" y="70848"/>
                  <a:pt x="341600" y="70848"/>
                </a:cubicBezTo>
                <a:cubicBezTo>
                  <a:pt x="434115" y="70848"/>
                  <a:pt x="434115" y="70848"/>
                  <a:pt x="434115" y="70848"/>
                </a:cubicBezTo>
                <a:cubicBezTo>
                  <a:pt x="434115" y="88560"/>
                  <a:pt x="434115" y="88560"/>
                  <a:pt x="434115" y="88560"/>
                </a:cubicBezTo>
                <a:cubicBezTo>
                  <a:pt x="412765" y="92103"/>
                  <a:pt x="398532" y="109814"/>
                  <a:pt x="398532" y="131069"/>
                </a:cubicBezTo>
                <a:cubicBezTo>
                  <a:pt x="398532" y="155866"/>
                  <a:pt x="416324" y="177121"/>
                  <a:pt x="441232" y="177121"/>
                </a:cubicBezTo>
                <a:cubicBezTo>
                  <a:pt x="466141" y="177121"/>
                  <a:pt x="487491" y="155866"/>
                  <a:pt x="487491" y="131069"/>
                </a:cubicBezTo>
                <a:cubicBezTo>
                  <a:pt x="487491" y="109814"/>
                  <a:pt x="473257" y="92103"/>
                  <a:pt x="451907" y="88560"/>
                </a:cubicBezTo>
                <a:cubicBezTo>
                  <a:pt x="451907" y="70848"/>
                  <a:pt x="451907" y="70848"/>
                  <a:pt x="451907" y="70848"/>
                </a:cubicBezTo>
                <a:cubicBezTo>
                  <a:pt x="501724" y="70848"/>
                  <a:pt x="501724" y="70848"/>
                  <a:pt x="501724" y="70848"/>
                </a:cubicBezTo>
                <a:lnTo>
                  <a:pt x="501724" y="61992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7937500" y="3810000"/>
            <a:ext cx="266922" cy="17696"/>
          </a:xfrm>
          <a:custGeom>
            <a:avLst/>
            <a:gdLst/>
            <a:ahLst/>
            <a:cxnLst/>
            <a:rect l="l" t="t" r="r" b="b"/>
            <a:pathLst>
              <a:path w="266922" h="17696">
                <a:moveTo>
                  <a:pt x="259804" y="0"/>
                </a:moveTo>
                <a:cubicBezTo>
                  <a:pt x="7118" y="0"/>
                  <a:pt x="7118" y="0"/>
                  <a:pt x="7118" y="0"/>
                </a:cubicBezTo>
                <a:cubicBezTo>
                  <a:pt x="3559" y="0"/>
                  <a:pt x="0" y="3539"/>
                  <a:pt x="0" y="10617"/>
                </a:cubicBezTo>
                <a:cubicBezTo>
                  <a:pt x="0" y="14157"/>
                  <a:pt x="3559" y="17696"/>
                  <a:pt x="7118" y="17696"/>
                </a:cubicBezTo>
                <a:cubicBezTo>
                  <a:pt x="259804" y="17696"/>
                  <a:pt x="259804" y="17696"/>
                  <a:pt x="259804" y="17696"/>
                </a:cubicBezTo>
                <a:cubicBezTo>
                  <a:pt x="263362" y="17696"/>
                  <a:pt x="266922" y="14157"/>
                  <a:pt x="266922" y="10617"/>
                </a:cubicBezTo>
                <a:cubicBezTo>
                  <a:pt x="266922" y="3539"/>
                  <a:pt x="263362" y="0"/>
                  <a:pt x="2598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7937500" y="3683000"/>
            <a:ext cx="266922" cy="20646"/>
          </a:xfrm>
          <a:custGeom>
            <a:avLst/>
            <a:gdLst/>
            <a:ahLst/>
            <a:cxnLst/>
            <a:rect l="l" t="t" r="r" b="b"/>
            <a:pathLst>
              <a:path w="266922" h="20646">
                <a:moveTo>
                  <a:pt x="259804" y="0"/>
                </a:moveTo>
                <a:cubicBezTo>
                  <a:pt x="7118" y="0"/>
                  <a:pt x="7118" y="0"/>
                  <a:pt x="7118" y="0"/>
                </a:cubicBezTo>
                <a:cubicBezTo>
                  <a:pt x="3559" y="0"/>
                  <a:pt x="0" y="6882"/>
                  <a:pt x="0" y="10323"/>
                </a:cubicBezTo>
                <a:cubicBezTo>
                  <a:pt x="0" y="17205"/>
                  <a:pt x="3559" y="20646"/>
                  <a:pt x="7118" y="20646"/>
                </a:cubicBezTo>
                <a:cubicBezTo>
                  <a:pt x="259804" y="20646"/>
                  <a:pt x="259804" y="20646"/>
                  <a:pt x="259804" y="20646"/>
                </a:cubicBezTo>
                <a:cubicBezTo>
                  <a:pt x="263362" y="20646"/>
                  <a:pt x="266922" y="17205"/>
                  <a:pt x="266922" y="10323"/>
                </a:cubicBezTo>
                <a:cubicBezTo>
                  <a:pt x="266922" y="6882"/>
                  <a:pt x="263362" y="0"/>
                  <a:pt x="2598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37500" y="3568700"/>
            <a:ext cx="266922" cy="17696"/>
          </a:xfrm>
          <a:custGeom>
            <a:avLst/>
            <a:gdLst/>
            <a:ahLst/>
            <a:cxnLst/>
            <a:rect l="l" t="t" r="r" b="b"/>
            <a:pathLst>
              <a:path w="266922" h="17696">
                <a:moveTo>
                  <a:pt x="259804" y="0"/>
                </a:moveTo>
                <a:cubicBezTo>
                  <a:pt x="7118" y="0"/>
                  <a:pt x="7118" y="0"/>
                  <a:pt x="7118" y="0"/>
                </a:cubicBezTo>
                <a:cubicBezTo>
                  <a:pt x="3559" y="0"/>
                  <a:pt x="0" y="3539"/>
                  <a:pt x="0" y="10617"/>
                </a:cubicBezTo>
                <a:cubicBezTo>
                  <a:pt x="0" y="14157"/>
                  <a:pt x="3559" y="17696"/>
                  <a:pt x="7118" y="17696"/>
                </a:cubicBezTo>
                <a:cubicBezTo>
                  <a:pt x="259804" y="17696"/>
                  <a:pt x="259804" y="17696"/>
                  <a:pt x="259804" y="17696"/>
                </a:cubicBezTo>
                <a:cubicBezTo>
                  <a:pt x="263362" y="17696"/>
                  <a:pt x="266922" y="14157"/>
                  <a:pt x="266922" y="10617"/>
                </a:cubicBezTo>
                <a:cubicBezTo>
                  <a:pt x="266922" y="3539"/>
                  <a:pt x="263362" y="0"/>
                  <a:pt x="2598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7835900" y="3556000"/>
            <a:ext cx="60463" cy="60463"/>
          </a:xfrm>
          <a:custGeom>
            <a:avLst/>
            <a:gdLst/>
            <a:ahLst/>
            <a:cxnLst/>
            <a:rect l="l" t="t" r="r" b="b"/>
            <a:pathLst>
              <a:path w="60463" h="60463">
                <a:moveTo>
                  <a:pt x="53350" y="0"/>
                </a:moveTo>
                <a:cubicBezTo>
                  <a:pt x="10671" y="0"/>
                  <a:pt x="10671" y="0"/>
                  <a:pt x="10671" y="0"/>
                </a:cubicBezTo>
                <a:cubicBezTo>
                  <a:pt x="3557" y="0"/>
                  <a:pt x="0" y="3557"/>
                  <a:pt x="0" y="10671"/>
                </a:cubicBezTo>
                <a:cubicBezTo>
                  <a:pt x="0" y="53350"/>
                  <a:pt x="0" y="53350"/>
                  <a:pt x="0" y="53350"/>
                </a:cubicBezTo>
                <a:cubicBezTo>
                  <a:pt x="0" y="56906"/>
                  <a:pt x="3557" y="60463"/>
                  <a:pt x="10671" y="60463"/>
                </a:cubicBezTo>
                <a:cubicBezTo>
                  <a:pt x="53350" y="60463"/>
                  <a:pt x="53350" y="60463"/>
                  <a:pt x="53350" y="60463"/>
                </a:cubicBezTo>
                <a:cubicBezTo>
                  <a:pt x="56906" y="60463"/>
                  <a:pt x="60463" y="56906"/>
                  <a:pt x="60463" y="53350"/>
                </a:cubicBezTo>
                <a:cubicBezTo>
                  <a:pt x="60463" y="10671"/>
                  <a:pt x="60463" y="10671"/>
                  <a:pt x="60463" y="10671"/>
                </a:cubicBezTo>
                <a:cubicBezTo>
                  <a:pt x="60463" y="3557"/>
                  <a:pt x="56906" y="0"/>
                  <a:pt x="5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7835900" y="3670300"/>
            <a:ext cx="60463" cy="63412"/>
          </a:xfrm>
          <a:custGeom>
            <a:avLst/>
            <a:gdLst/>
            <a:ahLst/>
            <a:cxnLst/>
            <a:rect l="l" t="t" r="r" b="b"/>
            <a:pathLst>
              <a:path w="60463" h="63412">
                <a:moveTo>
                  <a:pt x="53350" y="0"/>
                </a:moveTo>
                <a:cubicBezTo>
                  <a:pt x="10671" y="0"/>
                  <a:pt x="10671" y="0"/>
                  <a:pt x="10671" y="0"/>
                </a:cubicBezTo>
                <a:cubicBezTo>
                  <a:pt x="3557" y="0"/>
                  <a:pt x="0" y="7046"/>
                  <a:pt x="0" y="10569"/>
                </a:cubicBezTo>
                <a:cubicBezTo>
                  <a:pt x="0" y="52843"/>
                  <a:pt x="0" y="52843"/>
                  <a:pt x="0" y="52843"/>
                </a:cubicBezTo>
                <a:cubicBezTo>
                  <a:pt x="0" y="59889"/>
                  <a:pt x="3557" y="63412"/>
                  <a:pt x="10671" y="63412"/>
                </a:cubicBezTo>
                <a:cubicBezTo>
                  <a:pt x="53350" y="63412"/>
                  <a:pt x="53350" y="63412"/>
                  <a:pt x="53350" y="63412"/>
                </a:cubicBezTo>
                <a:cubicBezTo>
                  <a:pt x="56906" y="63412"/>
                  <a:pt x="60463" y="59889"/>
                  <a:pt x="60463" y="52843"/>
                </a:cubicBezTo>
                <a:cubicBezTo>
                  <a:pt x="60463" y="10569"/>
                  <a:pt x="60463" y="10569"/>
                  <a:pt x="60463" y="10569"/>
                </a:cubicBezTo>
                <a:cubicBezTo>
                  <a:pt x="60463" y="7046"/>
                  <a:pt x="56906" y="0"/>
                  <a:pt x="5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7835900" y="3784600"/>
            <a:ext cx="60463" cy="60463"/>
          </a:xfrm>
          <a:custGeom>
            <a:avLst/>
            <a:gdLst/>
            <a:ahLst/>
            <a:cxnLst/>
            <a:rect l="l" t="t" r="r" b="b"/>
            <a:pathLst>
              <a:path w="60463" h="60463">
                <a:moveTo>
                  <a:pt x="53350" y="0"/>
                </a:moveTo>
                <a:cubicBezTo>
                  <a:pt x="10671" y="0"/>
                  <a:pt x="10671" y="0"/>
                  <a:pt x="10671" y="0"/>
                </a:cubicBezTo>
                <a:cubicBezTo>
                  <a:pt x="3557" y="0"/>
                  <a:pt x="0" y="3557"/>
                  <a:pt x="0" y="10671"/>
                </a:cubicBezTo>
                <a:cubicBezTo>
                  <a:pt x="0" y="53350"/>
                  <a:pt x="0" y="53350"/>
                  <a:pt x="0" y="53350"/>
                </a:cubicBezTo>
                <a:cubicBezTo>
                  <a:pt x="0" y="56906"/>
                  <a:pt x="3557" y="60463"/>
                  <a:pt x="10671" y="60463"/>
                </a:cubicBezTo>
                <a:cubicBezTo>
                  <a:pt x="53350" y="60463"/>
                  <a:pt x="53350" y="60463"/>
                  <a:pt x="53350" y="60463"/>
                </a:cubicBezTo>
                <a:cubicBezTo>
                  <a:pt x="56906" y="60463"/>
                  <a:pt x="60463" y="56906"/>
                  <a:pt x="60463" y="53350"/>
                </a:cubicBezTo>
                <a:cubicBezTo>
                  <a:pt x="60463" y="10671"/>
                  <a:pt x="60463" y="10671"/>
                  <a:pt x="60463" y="10671"/>
                </a:cubicBezTo>
                <a:cubicBezTo>
                  <a:pt x="60463" y="3557"/>
                  <a:pt x="56906" y="0"/>
                  <a:pt x="5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855200" y="3378200"/>
            <a:ext cx="1003300" cy="1003300"/>
          </a:xfrm>
          <a:prstGeom prst="ellipse">
            <a:avLst/>
          </a:prstGeom>
          <a:solidFill>
            <a:srgbClr val="03358E">
              <a:alpha val="100000"/>
            </a:srgbClr>
          </a:solidFill>
          <a:ln w="38100" cap="flat" cmpd="sng">
            <a:solidFill>
              <a:srgbClr val="BFBFBF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0007600" y="3606800"/>
            <a:ext cx="700698" cy="537293"/>
          </a:xfrm>
          <a:custGeom>
            <a:avLst/>
            <a:gdLst/>
            <a:ahLst/>
            <a:cxnLst/>
            <a:rect l="l" t="t" r="r" b="b"/>
            <a:pathLst>
              <a:path w="700698" h="537293">
                <a:moveTo>
                  <a:pt x="107800" y="13602"/>
                </a:moveTo>
                <a:cubicBezTo>
                  <a:pt x="141487" y="0"/>
                  <a:pt x="161699" y="6801"/>
                  <a:pt x="181912" y="27205"/>
                </a:cubicBezTo>
                <a:cubicBezTo>
                  <a:pt x="175175" y="136023"/>
                  <a:pt x="154962" y="238041"/>
                  <a:pt x="128012" y="326456"/>
                </a:cubicBezTo>
                <a:cubicBezTo>
                  <a:pt x="94324" y="319655"/>
                  <a:pt x="60637" y="312853"/>
                  <a:pt x="26949" y="306052"/>
                </a:cubicBezTo>
                <a:cubicBezTo>
                  <a:pt x="40425" y="197234"/>
                  <a:pt x="67375" y="102018"/>
                  <a:pt x="107800" y="13602"/>
                </a:cubicBezTo>
                <a:close/>
                <a:moveTo>
                  <a:pt x="121275" y="442076"/>
                </a:moveTo>
                <a:cubicBezTo>
                  <a:pt x="107800" y="489684"/>
                  <a:pt x="107800" y="489684"/>
                  <a:pt x="107800" y="489684"/>
                </a:cubicBezTo>
                <a:cubicBezTo>
                  <a:pt x="464886" y="489684"/>
                  <a:pt x="498574" y="489684"/>
                  <a:pt x="680485" y="489684"/>
                </a:cubicBezTo>
                <a:cubicBezTo>
                  <a:pt x="700698" y="489684"/>
                  <a:pt x="700698" y="489684"/>
                  <a:pt x="700698" y="489684"/>
                </a:cubicBezTo>
                <a:cubicBezTo>
                  <a:pt x="700698" y="462479"/>
                  <a:pt x="700698" y="462479"/>
                  <a:pt x="700698" y="462479"/>
                </a:cubicBezTo>
                <a:cubicBezTo>
                  <a:pt x="700698" y="176830"/>
                  <a:pt x="700698" y="176830"/>
                  <a:pt x="700698" y="176830"/>
                </a:cubicBezTo>
                <a:cubicBezTo>
                  <a:pt x="700698" y="163228"/>
                  <a:pt x="700698" y="163228"/>
                  <a:pt x="700698" y="163228"/>
                </a:cubicBezTo>
                <a:cubicBezTo>
                  <a:pt x="693961" y="156427"/>
                  <a:pt x="693961" y="156427"/>
                  <a:pt x="693961" y="156427"/>
                </a:cubicBezTo>
                <a:cubicBezTo>
                  <a:pt x="606373" y="68011"/>
                  <a:pt x="606373" y="68011"/>
                  <a:pt x="606373" y="68011"/>
                </a:cubicBezTo>
                <a:cubicBezTo>
                  <a:pt x="599636" y="61210"/>
                  <a:pt x="599636" y="61210"/>
                  <a:pt x="599636" y="61210"/>
                </a:cubicBezTo>
                <a:cubicBezTo>
                  <a:pt x="586161" y="61210"/>
                  <a:pt x="586161" y="61210"/>
                  <a:pt x="586161" y="61210"/>
                </a:cubicBezTo>
                <a:cubicBezTo>
                  <a:pt x="208862" y="61210"/>
                  <a:pt x="208862" y="61210"/>
                  <a:pt x="208862" y="61210"/>
                </a:cubicBezTo>
                <a:cubicBezTo>
                  <a:pt x="208862" y="81614"/>
                  <a:pt x="208862" y="95216"/>
                  <a:pt x="208862" y="115620"/>
                </a:cubicBezTo>
                <a:cubicBezTo>
                  <a:pt x="565949" y="115620"/>
                  <a:pt x="565949" y="115620"/>
                  <a:pt x="565949" y="115620"/>
                </a:cubicBezTo>
                <a:cubicBezTo>
                  <a:pt x="559211" y="190433"/>
                  <a:pt x="559211" y="190433"/>
                  <a:pt x="559211" y="190433"/>
                </a:cubicBezTo>
                <a:cubicBezTo>
                  <a:pt x="559211" y="204034"/>
                  <a:pt x="559211" y="204034"/>
                  <a:pt x="559211" y="204034"/>
                </a:cubicBezTo>
                <a:cubicBezTo>
                  <a:pt x="572686" y="204034"/>
                  <a:pt x="572686" y="204034"/>
                  <a:pt x="572686" y="204034"/>
                </a:cubicBezTo>
                <a:cubicBezTo>
                  <a:pt x="653536" y="197234"/>
                  <a:pt x="653536" y="197234"/>
                  <a:pt x="653536" y="197234"/>
                </a:cubicBezTo>
                <a:cubicBezTo>
                  <a:pt x="653536" y="442076"/>
                  <a:pt x="653536" y="442076"/>
                  <a:pt x="653536" y="442076"/>
                </a:cubicBezTo>
                <a:cubicBezTo>
                  <a:pt x="532261" y="442076"/>
                  <a:pt x="384037" y="442076"/>
                  <a:pt x="121275" y="442076"/>
                </a:cubicBezTo>
                <a:close/>
                <a:moveTo>
                  <a:pt x="640061" y="176830"/>
                </a:moveTo>
                <a:cubicBezTo>
                  <a:pt x="579424" y="176830"/>
                  <a:pt x="579424" y="176830"/>
                  <a:pt x="579424" y="176830"/>
                </a:cubicBezTo>
                <a:cubicBezTo>
                  <a:pt x="586161" y="122420"/>
                  <a:pt x="586161" y="122420"/>
                  <a:pt x="586161" y="122420"/>
                </a:cubicBezTo>
                <a:cubicBezTo>
                  <a:pt x="640061" y="176830"/>
                  <a:pt x="640061" y="176830"/>
                  <a:pt x="640061" y="176830"/>
                </a:cubicBezTo>
                <a:close/>
                <a:moveTo>
                  <a:pt x="215599" y="292451"/>
                </a:moveTo>
                <a:cubicBezTo>
                  <a:pt x="498574" y="292451"/>
                  <a:pt x="498574" y="292451"/>
                  <a:pt x="498574" y="292451"/>
                </a:cubicBezTo>
                <a:cubicBezTo>
                  <a:pt x="498574" y="306052"/>
                  <a:pt x="498574" y="306052"/>
                  <a:pt x="498574" y="306052"/>
                </a:cubicBezTo>
                <a:cubicBezTo>
                  <a:pt x="215599" y="306052"/>
                  <a:pt x="215599" y="306052"/>
                  <a:pt x="215599" y="306052"/>
                </a:cubicBezTo>
                <a:cubicBezTo>
                  <a:pt x="215599" y="292451"/>
                  <a:pt x="215599" y="292451"/>
                  <a:pt x="215599" y="292451"/>
                </a:cubicBezTo>
                <a:close/>
                <a:moveTo>
                  <a:pt x="215599" y="217637"/>
                </a:moveTo>
                <a:cubicBezTo>
                  <a:pt x="478361" y="217637"/>
                  <a:pt x="478361" y="217637"/>
                  <a:pt x="478361" y="217637"/>
                </a:cubicBezTo>
                <a:cubicBezTo>
                  <a:pt x="478361" y="238041"/>
                  <a:pt x="478361" y="238041"/>
                  <a:pt x="478361" y="238041"/>
                </a:cubicBezTo>
                <a:cubicBezTo>
                  <a:pt x="215599" y="238041"/>
                  <a:pt x="215599" y="238041"/>
                  <a:pt x="215599" y="238041"/>
                </a:cubicBezTo>
                <a:cubicBezTo>
                  <a:pt x="215599" y="217637"/>
                  <a:pt x="215599" y="217637"/>
                  <a:pt x="215599" y="217637"/>
                </a:cubicBezTo>
                <a:close/>
                <a:moveTo>
                  <a:pt x="215599" y="149625"/>
                </a:moveTo>
                <a:cubicBezTo>
                  <a:pt x="478361" y="149625"/>
                  <a:pt x="478361" y="149625"/>
                  <a:pt x="478361" y="149625"/>
                </a:cubicBezTo>
                <a:cubicBezTo>
                  <a:pt x="478361" y="170029"/>
                  <a:pt x="478361" y="170029"/>
                  <a:pt x="478361" y="170029"/>
                </a:cubicBezTo>
                <a:cubicBezTo>
                  <a:pt x="215599" y="170029"/>
                  <a:pt x="215599" y="170029"/>
                  <a:pt x="215599" y="170029"/>
                </a:cubicBezTo>
                <a:cubicBezTo>
                  <a:pt x="215599" y="149625"/>
                  <a:pt x="215599" y="149625"/>
                  <a:pt x="215599" y="149625"/>
                </a:cubicBezTo>
                <a:close/>
                <a:moveTo>
                  <a:pt x="20212" y="448876"/>
                </a:moveTo>
                <a:cubicBezTo>
                  <a:pt x="60637" y="462479"/>
                  <a:pt x="60637" y="462479"/>
                  <a:pt x="60637" y="462479"/>
                </a:cubicBezTo>
                <a:cubicBezTo>
                  <a:pt x="60637" y="503286"/>
                  <a:pt x="60637" y="503286"/>
                  <a:pt x="60637" y="503286"/>
                </a:cubicBezTo>
                <a:cubicBezTo>
                  <a:pt x="33688" y="537293"/>
                  <a:pt x="33688" y="537293"/>
                  <a:pt x="33688" y="537293"/>
                </a:cubicBezTo>
                <a:cubicBezTo>
                  <a:pt x="26949" y="537293"/>
                  <a:pt x="20212" y="537293"/>
                  <a:pt x="13475" y="530490"/>
                </a:cubicBezTo>
                <a:cubicBezTo>
                  <a:pt x="0" y="489684"/>
                  <a:pt x="0" y="489684"/>
                  <a:pt x="0" y="489684"/>
                </a:cubicBezTo>
                <a:cubicBezTo>
                  <a:pt x="20212" y="448876"/>
                  <a:pt x="20212" y="448876"/>
                  <a:pt x="20212" y="448876"/>
                </a:cubicBezTo>
                <a:close/>
                <a:moveTo>
                  <a:pt x="26949" y="326456"/>
                </a:moveTo>
                <a:cubicBezTo>
                  <a:pt x="20212" y="360462"/>
                  <a:pt x="20212" y="401269"/>
                  <a:pt x="13475" y="442076"/>
                </a:cubicBezTo>
                <a:cubicBezTo>
                  <a:pt x="33688" y="442076"/>
                  <a:pt x="60637" y="448876"/>
                  <a:pt x="80849" y="455679"/>
                </a:cubicBezTo>
                <a:cubicBezTo>
                  <a:pt x="94324" y="414871"/>
                  <a:pt x="101063" y="380865"/>
                  <a:pt x="114537" y="346860"/>
                </a:cubicBezTo>
                <a:cubicBezTo>
                  <a:pt x="87587" y="340058"/>
                  <a:pt x="60637" y="333257"/>
                  <a:pt x="26949" y="32645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32900" y="3937"/>
            <a:ext cx="2819400" cy="800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1333500" y="635000"/>
            <a:ext cx="2349500" cy="5003800"/>
          </a:xfrm>
          <a:prstGeom prst="trapezoid">
            <a:avLst>
              <a:gd name="adj" fmla="val 17865"/>
            </a:avLst>
          </a:prstGeom>
          <a:solidFill>
            <a:srgbClr val="8080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-5400000">
            <a:off x="7442200" y="-457200"/>
            <a:ext cx="2286000" cy="7200900"/>
          </a:xfrm>
          <a:prstGeom prst="trapezoid">
            <a:avLst>
              <a:gd name="adj" fmla="val 16935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0" y="24130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sz="7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2667000"/>
            <a:ext cx="406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摘要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8" b="38"/>
          <a:stretch>
            <a:fillRect/>
          </a:stretch>
        </p:blipFill>
        <p:spPr>
          <a:xfrm>
            <a:off x="330200" y="1689100"/>
            <a:ext cx="30861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10668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摘要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36550" y="1016001"/>
            <a:ext cx="11629736" cy="6210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+mn-ea"/>
                <a:ea typeface="+mn-ea"/>
                <a:cs typeface="微软雅黑"/>
                <a:sym typeface="微软雅黑"/>
              </a:rPr>
              <a:t>一、背景与核心挑战</a:t>
            </a:r>
            <a:endParaRPr lang="en-US" sz="1100">
              <a:latin typeface="+mn-ea"/>
              <a:ea typeface="+mn-ea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往返时延（RTT）是衡量网络性能的关键指标，然而现有测量方法存在显著局限：主动探测无法反映真实网络行为且引入额外流量，软件端被动监测计算开销大难以实时运行，仅监测TCP握手阶段则对长连接流的测量准确性不足。可编程交换机为数据平面内的实时RTT监测提供了新机遇，但也面临两大核心挑战：一是TCP重传歧义与包乱序引发的</a:t>
            </a:r>
            <a:r>
              <a:rPr lang="en-US" sz="1500" b="1" i="0" u="none" strike="noStrike">
                <a:solidFill>
                  <a:srgbClr val="C93838"/>
                </a:solidFill>
                <a:latin typeface="+mn-ea"/>
                <a:ea typeface="+mn-ea"/>
                <a:cs typeface="微软雅黑"/>
                <a:sym typeface="微软雅黑"/>
              </a:rPr>
              <a:t>正确性挑战</a:t>
            </a: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，易产生错误的RTT样本；二是数据平面内存与计算资源受限带来的</a:t>
            </a:r>
            <a:r>
              <a:rPr lang="en-US" sz="1500" b="1" i="0" u="none" strike="noStrike">
                <a:solidFill>
                  <a:srgbClr val="C93838"/>
                </a:solidFill>
                <a:latin typeface="+mn-ea"/>
                <a:ea typeface="+mn-ea"/>
                <a:cs typeface="微软雅黑"/>
                <a:sym typeface="微软雅黑"/>
              </a:rPr>
              <a:t>效率挑战</a:t>
            </a: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，难以在保证精度的同时实现资源高效利用。</a:t>
            </a:r>
          </a:p>
          <a:p>
            <a:pPr marL="0" indent="0" algn="l">
              <a:lnSpc>
                <a:spcPct val="116666"/>
              </a:lnSpc>
            </a:pPr>
            <a:endParaRPr lang="en-US" sz="1500" b="0" i="0" u="none" strike="noStrike">
              <a:solidFill>
                <a:srgbClr val="1F2329"/>
              </a:solidFill>
              <a:latin typeface="+mn-ea"/>
              <a:ea typeface="+mn-ea"/>
              <a:cs typeface="微软雅黑"/>
              <a:sym typeface="微软雅黑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+mn-ea"/>
                <a:ea typeface="+mn-ea"/>
                <a:cs typeface="微软雅黑"/>
                <a:sym typeface="微软雅黑"/>
              </a:rPr>
              <a:t>二、Dart方案：数据平面内联实时RTT测量系统</a:t>
            </a:r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针对上述问题，本文提出Dart系统，该系统运行于可编程交换机数据平面，通过三大核心模块协同实现准确、实时且高效的RTT测量</a:t>
            </a:r>
            <a:r>
              <a:rPr lang="zh-CN" alt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：</a:t>
            </a:r>
            <a:endParaRPr lang="en-US" sz="1500" b="0" i="0" u="none" strike="noStrike">
              <a:solidFill>
                <a:srgbClr val="1F2329"/>
              </a:solidFill>
              <a:latin typeface="+mn-ea"/>
              <a:ea typeface="+mn-ea"/>
              <a:cs typeface="微软雅黑"/>
              <a:sym typeface="微软雅黑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1. Range Tracker (RT表)：</a:t>
            </a: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为每个TCP流维护有效序列号窗口，能够自动识别并排除重传包、乱序包等歧义数据包，从源头上确保RTT样本采集的正确性，解决TCP协议特性带来的测量偏差问题。</a:t>
            </a:r>
          </a:p>
          <a:p>
            <a:pPr marL="0"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2. Packet Tracker (PT表)：</a:t>
            </a: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创新采用“惰性驱逐+第二次机会”的缓存管理策略，当哈希冲突发生时，旧条目并非直接丢弃，而是回流至RT表重新验证有效性，有效消除了传统策略对大RTT长流样本的系统性偏见，提升了测量的全面性。</a:t>
            </a:r>
          </a:p>
          <a:p>
            <a:pPr marL="0"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3. Analytics 模块：</a:t>
            </a:r>
            <a:r>
              <a:rPr lang="en-US" sz="1500" b="0" i="0" u="none" strike="noStrike">
                <a:solidFill>
                  <a:srgbClr val="1F2329"/>
                </a:solidFill>
                <a:latin typeface="+mn-ea"/>
                <a:ea typeface="+mn-ea"/>
                <a:cs typeface="微软雅黑"/>
                <a:sym typeface="微软雅黑"/>
              </a:rPr>
              <a:t>通过预判机制主动筛选并丢弃无法产生有效RTT的无用样本，大幅降低了数据平面的存储与计算资源消耗，在有限的硬件资源下实现了系统的高效运行。</a:t>
            </a:r>
          </a:p>
          <a:p>
            <a:pPr marL="0" indent="0" algn="l">
              <a:lnSpc>
                <a:spcPct val="116666"/>
              </a:lnSpc>
            </a:pPr>
            <a:endParaRPr lang="en-US" sz="1500" b="0" i="0" u="none" strike="noStrike">
              <a:solidFill>
                <a:srgbClr val="1F2329"/>
              </a:solidFill>
              <a:latin typeface="+mn-ea"/>
              <a:ea typeface="+mn-ea"/>
              <a:cs typeface="微软雅黑"/>
              <a:sym typeface="微软雅黑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+mn-ea"/>
                <a:ea typeface="+mn-ea"/>
                <a:cs typeface="微软雅黑"/>
                <a:sym typeface="微软雅黑"/>
              </a:rPr>
              <a:t>Dart系统在数据平面以O(1)的常量空间复杂度实现了连续实时的RTT监测，成功兼顾了测量的准确性、实时性与资源效率，为高速网络环境下的网络性能分析与异常检测提供了可靠支撑。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10668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摘要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36550" y="1073151"/>
            <a:ext cx="11201400" cy="447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err="1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一、核心实验结果验证</a:t>
            </a:r>
            <a:endParaRPr lang="en-US" sz="1100">
              <a:latin typeface="+mn-ea"/>
              <a:ea typeface="+mn-ea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err="1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Dart系统在Intel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 Tofino可编程交换机原型及真实校园网环境中的测试展现了卓越性能：首先是</a:t>
            </a:r>
            <a:r>
              <a:rPr lang="en-US" sz="16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RTT样本收集率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方面，系统达到了离线软件基准工具tcptrace的</a:t>
            </a:r>
            <a:r>
              <a:rPr lang="en-US" sz="1600" b="1" i="0" u="none" strike="noStrike">
                <a:solidFill>
                  <a:srgbClr val="D93025"/>
                </a:solidFill>
                <a:latin typeface="+mn-ea"/>
                <a:ea typeface="+mn-ea"/>
                <a:cs typeface="Arial"/>
                <a:sym typeface="Arial"/>
              </a:rPr>
              <a:t>99%以上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，且样本的统计分布未出现任何系统性偏差，保证了测量数据的真实性与可靠性；其次在安全防御场景下，针对BGP流量拦截攻击，Dart仅需捕获</a:t>
            </a:r>
            <a:r>
              <a:rPr lang="en-US" sz="1600" b="1" i="0" u="none" strike="noStrike">
                <a:solidFill>
                  <a:srgbClr val="D93025"/>
                </a:solidFill>
                <a:latin typeface="+mn-ea"/>
                <a:ea typeface="+mn-ea"/>
                <a:cs typeface="Arial"/>
                <a:sym typeface="Arial"/>
              </a:rPr>
              <a:t>63个数据包（2.58秒）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即可快速确认攻击行为，实现了秒级的实时威胁响应；在资源优化维度，通过策略性跳过TCP握手包（SYN/SYN-</a:t>
            </a:r>
            <a:r>
              <a:rPr lang="en-US" sz="1600" b="0" i="0" u="none" strike="noStrike" err="1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ACK阶段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），系统仅以损失</a:t>
            </a:r>
            <a:r>
              <a:rPr lang="en-US" sz="1600" b="1" i="0" u="none" strike="noStrike">
                <a:solidFill>
                  <a:srgbClr val="D93025"/>
                </a:solidFill>
                <a:latin typeface="+mn-ea"/>
                <a:ea typeface="+mn-ea"/>
                <a:cs typeface="Arial"/>
                <a:sym typeface="Arial"/>
              </a:rPr>
              <a:t>4.2%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有效样本的微小代价，成功节省了</a:t>
            </a:r>
            <a:r>
              <a:rPr lang="en-US" sz="1600" b="1" i="0" u="none" strike="noStrike">
                <a:solidFill>
                  <a:srgbClr val="D93025"/>
                </a:solidFill>
                <a:latin typeface="+mn-ea"/>
                <a:ea typeface="+mn-ea"/>
                <a:cs typeface="Arial"/>
                <a:sym typeface="Arial"/>
              </a:rPr>
              <a:t>72.5%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的交换机内存占用，极大缓解了数据平面的资源压力；同时系统实现了每流空间复杂度为</a:t>
            </a:r>
            <a:r>
              <a:rPr lang="en-US" sz="16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O(1)</a:t>
            </a:r>
            <a:r>
              <a:rPr lang="en-US" sz="1600" b="0" i="0" u="none" strike="noStrike" err="1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的常量级设计，完全适配高速网络的线速转发需求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。</a:t>
            </a:r>
          </a:p>
          <a:p>
            <a:pPr marL="0" indent="0" algn="l">
              <a:lnSpc>
                <a:spcPct val="116666"/>
              </a:lnSpc>
            </a:pPr>
            <a:endParaRPr lang="en-US" sz="1600" b="0" i="0" u="none" strike="noStrike">
              <a:solidFill>
                <a:srgbClr val="000000"/>
              </a:solidFill>
              <a:latin typeface="+mn-ea"/>
              <a:ea typeface="+mn-ea"/>
              <a:cs typeface="微软雅黑"/>
              <a:sym typeface="微软雅黑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 err="1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二、关键学术与工程贡献</a:t>
            </a:r>
            <a:endParaRPr lang="en-US" sz="2000" b="1" i="0" u="none" strike="noStrike">
              <a:solidFill>
                <a:srgbClr val="000000"/>
              </a:solidFill>
              <a:latin typeface="+mn-ea"/>
              <a:ea typeface="+mn-ea"/>
              <a:cs typeface="微软雅黑"/>
              <a:sym typeface="微软雅黑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Dart的核心突破在于首次在可编程交换机的数据平面，实现了与传统离线软件工具精度相媲美的</a:t>
            </a:r>
            <a:r>
              <a:rPr lang="en-US" sz="1600" b="1" i="0" u="none" strike="noStrike">
                <a:solidFill>
                  <a:srgbClr val="03358E"/>
                </a:solidFill>
                <a:latin typeface="+mn-ea"/>
                <a:ea typeface="+mn-ea"/>
                <a:cs typeface="Arial"/>
                <a:sym typeface="Arial"/>
              </a:rPr>
              <a:t>实时连续RTT监测</a:t>
            </a:r>
            <a:r>
              <a:rPr lang="en-US" sz="1600" b="0" i="0" u="none" strike="noStrike">
                <a:solidFill>
                  <a:srgbClr val="000000"/>
                </a:solidFill>
                <a:latin typeface="+mn-ea"/>
                <a:ea typeface="+mn-ea"/>
                <a:cs typeface="微软雅黑"/>
                <a:sym typeface="微软雅黑"/>
              </a:rPr>
              <a:t>能力。区别于传统方案要么依赖主动探测引入额外流量、要么仅被动监测握手阶段导致测量失真的缺陷，Dart让网络交换机在执行数据包转发的同时，能够即时感知网络RTT的动态变化，并直接基于数据平面的实时测量结果触发控制动作（如流量调度、攻击阻断）。这一成果不仅填补了数据平面高精度RTT监测的技术空白，更将网络测量从“离线事后分析”推向了“在线实时决策”，为低延迟网络管控、实时安全防御等应用场景提供了全新的技术支撑，奠定了数据平面主动网络管理的重要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7467600" y="-457200"/>
            <a:ext cx="2286000" cy="7200900"/>
          </a:xfrm>
          <a:prstGeom prst="trapezoid">
            <a:avLst>
              <a:gd name="adj" fmla="val 16935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5400000">
            <a:off x="1333500" y="635000"/>
            <a:ext cx="2349500" cy="5003800"/>
          </a:xfrm>
          <a:prstGeom prst="trapezoid">
            <a:avLst>
              <a:gd name="adj" fmla="val 17865"/>
            </a:avLst>
          </a:prstGeom>
          <a:solidFill>
            <a:srgbClr val="8080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733800" y="2552700"/>
            <a:ext cx="1168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sz="7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59400" y="2806700"/>
            <a:ext cx="22352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0200" y="1689100"/>
            <a:ext cx="30861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223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0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30988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RTT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的基本概念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4999" y="1397000"/>
            <a:ext cx="11224491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err="1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RTT</a:t>
            </a:r>
            <a:r>
              <a:rPr lang="en-US" sz="2000" b="0" i="0" u="none" strike="noStrike" err="1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（往返时延，Round-Trip</a:t>
            </a:r>
            <a:r>
              <a:rPr lang="en-US" sz="2000" b="0" i="0" u="none" strike="noStrike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 </a:t>
            </a:r>
            <a:r>
              <a:rPr lang="en-US" sz="2000" b="0" i="0" u="none" strike="noStrike" err="1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Time）是网络性能的核心指标，指数据包从发送方发出，经接收方处理并返回确认消息，最终回到发送方的总耗时</a:t>
            </a:r>
            <a:r>
              <a:rPr lang="en-US" sz="2000" b="0" i="0" u="none" strike="noStrike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。</a:t>
            </a:r>
            <a:endParaRPr lang="en-US" sz="2000">
              <a:latin typeface="+mn-ea"/>
              <a:ea typeface="+mn-ea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2794000"/>
            <a:ext cx="5588000" cy="330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 err="1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RTT直接决定上层业务的网络体验表现</a:t>
            </a:r>
            <a:r>
              <a:rPr lang="en-US" sz="1800" b="1" i="0" u="none" strike="noStrike">
                <a:solidFill>
                  <a:srgbClr val="262626"/>
                </a:solidFill>
                <a:latin typeface="+mn-ea"/>
                <a:ea typeface="+mn-ea"/>
                <a:cs typeface="微软雅黑"/>
                <a:sym typeface="微软雅黑"/>
              </a:rPr>
              <a:t>：</a:t>
            </a:r>
            <a:endParaRPr lang="en-US" sz="1800">
              <a:latin typeface="+mn-ea"/>
              <a:ea typeface="+mn-ea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+mn-ea"/>
                <a:ea typeface="+mn-ea"/>
                <a:cs typeface="微软雅黑"/>
                <a:sym typeface="微软雅黑"/>
              </a:rPr>
              <a:t>01. </a:t>
            </a:r>
            <a:r>
              <a:rPr lang="en-US" sz="1800" b="1" i="0" u="none" strike="noStrike" err="1">
                <a:solidFill>
                  <a:srgbClr val="03358E"/>
                </a:solidFill>
                <a:latin typeface="+mn-ea"/>
                <a:ea typeface="+mn-ea"/>
                <a:cs typeface="微软雅黑"/>
                <a:sym typeface="微软雅黑"/>
              </a:rPr>
              <a:t>TCP吞吐量与数据传输：</a:t>
            </a:r>
            <a:r>
              <a:rPr lang="en-US" sz="1800" b="0" i="0" u="none" strike="noStrike" err="1">
                <a:solidFill>
                  <a:srgbClr val="4D4D4D"/>
                </a:solidFill>
                <a:latin typeface="+mn-ea"/>
                <a:ea typeface="+mn-ea"/>
                <a:cs typeface="微软雅黑"/>
                <a:sym typeface="微软雅黑"/>
              </a:rPr>
              <a:t>TCP吞吐量遵循公式</a:t>
            </a:r>
            <a:r>
              <a:rPr lang="en-US" sz="1800" b="0" i="0" u="none" strike="noStrike">
                <a:solidFill>
                  <a:srgbClr val="4D4D4D"/>
                </a:solidFill>
                <a:latin typeface="+mn-ea"/>
                <a:ea typeface="+mn-ea"/>
                <a:cs typeface="微软雅黑"/>
                <a:sym typeface="微软雅黑"/>
              </a:rPr>
              <a:t> Throughput ≈ Window_Size / </a:t>
            </a:r>
            <a:r>
              <a:rPr lang="en-US" sz="1800" b="0" i="0" u="none" strike="noStrike" err="1">
                <a:solidFill>
                  <a:srgbClr val="4D4D4D"/>
                </a:solidFill>
                <a:latin typeface="+mn-ea"/>
                <a:ea typeface="+mn-ea"/>
                <a:cs typeface="微软雅黑"/>
                <a:sym typeface="微软雅黑"/>
              </a:rPr>
              <a:t>RTT，RTT翻倍将直接导致吞吐量减半，是制约大数据传输效率的关键因素</a:t>
            </a:r>
            <a:r>
              <a:rPr lang="en-US" sz="1800" b="0" i="0" u="none" strike="noStrike">
                <a:solidFill>
                  <a:srgbClr val="4D4D4D"/>
                </a:solidFill>
                <a:latin typeface="+mn-ea"/>
                <a:ea typeface="+mn-ea"/>
                <a:cs typeface="微软雅黑"/>
                <a:sym typeface="微软雅黑"/>
              </a:rPr>
              <a:t>。</a:t>
            </a:r>
          </a:p>
          <a:p>
            <a:pPr marL="0"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+mn-ea"/>
                <a:ea typeface="+mn-ea"/>
                <a:cs typeface="微软雅黑"/>
                <a:sym typeface="微软雅黑"/>
              </a:rPr>
              <a:t>02. 多媒体与交互类业务体验：</a:t>
            </a:r>
            <a:r>
              <a:rPr lang="en-US" sz="1800" b="0" i="0" u="none" strike="noStrike">
                <a:solidFill>
                  <a:srgbClr val="4D4D4D"/>
                </a:solidFill>
                <a:latin typeface="+mn-ea"/>
                <a:ea typeface="+mn-ea"/>
                <a:cs typeface="微软雅黑"/>
                <a:sym typeface="微软雅黑"/>
              </a:rPr>
              <a:t>高RTT会引发视频启动延迟、分辨率动态降级；HTTP请求的累积效应会拖慢页面加载；云游戏场景中过高的RTT会造成操作与画面不同步，直接导致服务不可用。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AAFD189-3D98-C2F2-E201-3C2E5FD6A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99" y="2794000"/>
            <a:ext cx="5893315" cy="310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2044700" y="3848100"/>
            <a:ext cx="1093019" cy="1520708"/>
          </a:xfrm>
          <a:custGeom>
            <a:avLst/>
            <a:gdLst/>
            <a:ahLst/>
            <a:cxnLst/>
            <a:rect l="l" t="t" r="r" b="b"/>
            <a:pathLst>
              <a:path w="1093019" h="1520708">
                <a:moveTo>
                  <a:pt x="138238" y="1343163"/>
                </a:moveTo>
                <a:lnTo>
                  <a:pt x="149953" y="437429"/>
                </a:lnTo>
                <a:cubicBezTo>
                  <a:pt x="156982" y="275323"/>
                  <a:pt x="213215" y="272750"/>
                  <a:pt x="309279" y="270176"/>
                </a:cubicBezTo>
                <a:lnTo>
                  <a:pt x="843487" y="259884"/>
                </a:lnTo>
                <a:lnTo>
                  <a:pt x="843487" y="411697"/>
                </a:lnTo>
                <a:lnTo>
                  <a:pt x="1093019" y="196842"/>
                </a:lnTo>
                <a:lnTo>
                  <a:pt x="834116" y="0"/>
                </a:lnTo>
                <a:lnTo>
                  <a:pt x="836459" y="118363"/>
                </a:lnTo>
                <a:cubicBezTo>
                  <a:pt x="836459" y="118363"/>
                  <a:pt x="475633" y="120936"/>
                  <a:pt x="274133" y="120936"/>
                </a:cubicBezTo>
                <a:cubicBezTo>
                  <a:pt x="70291" y="123509"/>
                  <a:pt x="2343" y="200703"/>
                  <a:pt x="0" y="383394"/>
                </a:cubicBezTo>
                <a:lnTo>
                  <a:pt x="0" y="1361175"/>
                </a:lnTo>
                <a:cubicBezTo>
                  <a:pt x="23430" y="1520708"/>
                  <a:pt x="108951" y="1505269"/>
                  <a:pt x="138238" y="1343163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 rot="-5400000">
            <a:off x="2336800" y="3225800"/>
            <a:ext cx="324863" cy="1299204"/>
          </a:xfrm>
          <a:custGeom>
            <a:avLst/>
            <a:gdLst/>
            <a:ahLst/>
            <a:cxnLst/>
            <a:rect l="l" t="t" r="r" b="b"/>
            <a:pathLst>
              <a:path w="324863" h="1299204">
                <a:moveTo>
                  <a:pt x="84647" y="2151"/>
                </a:moveTo>
                <a:lnTo>
                  <a:pt x="102950" y="1015272"/>
                </a:lnTo>
                <a:lnTo>
                  <a:pt x="0" y="1019574"/>
                </a:lnTo>
                <a:lnTo>
                  <a:pt x="164719" y="1299204"/>
                </a:lnTo>
                <a:lnTo>
                  <a:pt x="324863" y="1019574"/>
                </a:lnTo>
                <a:lnTo>
                  <a:pt x="228777" y="1019574"/>
                </a:lnTo>
                <a:lnTo>
                  <a:pt x="226489" y="0"/>
                </a:lnTo>
                <a:lnTo>
                  <a:pt x="84647" y="2151"/>
                </a:ln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032000" y="2197100"/>
            <a:ext cx="1093019" cy="1761588"/>
          </a:xfrm>
          <a:custGeom>
            <a:avLst/>
            <a:gdLst/>
            <a:ahLst/>
            <a:cxnLst/>
            <a:rect l="l" t="t" r="r" b="b"/>
            <a:pathLst>
              <a:path w="1093019" h="1761588">
                <a:moveTo>
                  <a:pt x="138238" y="1555920"/>
                </a:moveTo>
                <a:lnTo>
                  <a:pt x="149953" y="506717"/>
                </a:lnTo>
                <a:cubicBezTo>
                  <a:pt x="156982" y="318934"/>
                  <a:pt x="213215" y="315953"/>
                  <a:pt x="309279" y="312972"/>
                </a:cubicBezTo>
                <a:lnTo>
                  <a:pt x="843487" y="301050"/>
                </a:lnTo>
                <a:lnTo>
                  <a:pt x="843487" y="476910"/>
                </a:lnTo>
                <a:lnTo>
                  <a:pt x="1093019" y="228023"/>
                </a:lnTo>
                <a:lnTo>
                  <a:pt x="834116" y="0"/>
                </a:lnTo>
                <a:lnTo>
                  <a:pt x="836459" y="137112"/>
                </a:lnTo>
                <a:cubicBezTo>
                  <a:pt x="836459" y="137112"/>
                  <a:pt x="475633" y="140092"/>
                  <a:pt x="274133" y="140092"/>
                </a:cubicBezTo>
                <a:cubicBezTo>
                  <a:pt x="70291" y="143073"/>
                  <a:pt x="2343" y="232494"/>
                  <a:pt x="0" y="444123"/>
                </a:cubicBezTo>
                <a:lnTo>
                  <a:pt x="0" y="1576785"/>
                </a:lnTo>
                <a:cubicBezTo>
                  <a:pt x="23430" y="1761588"/>
                  <a:pt x="108951" y="1743704"/>
                  <a:pt x="138238" y="1555920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08500" y="1803400"/>
            <a:ext cx="5918200" cy="1193800"/>
          </a:xfrm>
          <a:prstGeom prst="roundRect">
            <a:avLst>
              <a:gd name="adj" fmla="val 11702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在多路径网络场景中，RTT数值是判断路径状态的核心依据。当监测到主路径RTT持续升高时，可判定路径出现拥塞，系统能自动将业务流量切换至RTT更低、传输更稳定的备用路径，有效保障数据传输效率与连续性。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63900" y="1790700"/>
            <a:ext cx="1244600" cy="1206500"/>
          </a:xfrm>
          <a:prstGeom prst="roundRect">
            <a:avLst>
              <a:gd name="adj" fmla="val 11578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路由优化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3251200"/>
            <a:ext cx="5918200" cy="1193800"/>
          </a:xfrm>
          <a:prstGeom prst="roundRect">
            <a:avLst>
              <a:gd name="adj" fmla="val 11702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针对云游戏等延迟敏感应用，实时测量多节点RTT以引导用户接入最优服务器；同时将RTT激增作为视频流服务的异常信号，提示服务商及时切换服务器或传输路径，从源头规避卡顿，保障用户观看体验（QoE）。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63900" y="3251200"/>
            <a:ext cx="1244600" cy="1193800"/>
          </a:xfrm>
          <a:prstGeom prst="roundRect">
            <a:avLst>
              <a:gd name="adj" fmla="val 11702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体验保障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699000"/>
            <a:ext cx="5918200" cy="1181100"/>
          </a:xfrm>
          <a:prstGeom prst="roundRect">
            <a:avLst>
              <a:gd name="adj" fmla="val 11827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BGP劫持等网络攻击会导致网络路径异常，使RTT出现非预期的突然大幅增加。通过对RTT数据的实时监测与异常波动分析，可快速识别这类攻击行为并触发实时告警，为网络安全防护提供关键的技术支撑与判定依据。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263900" y="4699000"/>
            <a:ext cx="1244600" cy="1181100"/>
          </a:xfrm>
          <a:prstGeom prst="roundRect">
            <a:avLst>
              <a:gd name="adj" fmla="val 11827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安全预警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95400" y="3149600"/>
            <a:ext cx="1574800" cy="12954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RTT监测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" y="215900"/>
            <a:ext cx="96139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核心价值 ——RTT监测的应用场景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635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为什么必须在数据平面做？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1016000"/>
            <a:ext cx="1079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核心驱动力：千倍级处理能力的鸿沟</a:t>
            </a: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传统软件方案（如DPDK加速）仅能达到数百万pps的吞吐量，而Intel Tofino等可编程交换机的数据平面可达数十亿pps，两者存在约1000倍的性能差距，这使得数据平面成为实现线速实时测量的唯一选择。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2413000"/>
            <a:ext cx="10795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数据平面的天然技术优势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支持线速处理，确保网络吞吐量不受测量逻辑影响；RTT异常可即时触发控制动作，实现低延迟响应；部署在网关位置可同时覆盖海量端主机，避免单点监测的局限性，具备极强的可扩展性。</a:t>
            </a:r>
          </a:p>
          <a:p>
            <a:pPr marL="0"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不可忽视的硬件硬约束</a:t>
            </a:r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数据平面面临内存极有限（通常仅几十MB）、算术运算种类和数量受限的问题；同时流水线级数固定，数据流过即无法回读，且再循环带宽存在严格上限，这对算法设计提出了极致的精简要求。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73100" y="4457700"/>
            <a:ext cx="106299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Dart系统的核心应对策略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Dart针对数据平面的严苛约束进行了针对性设计：通过轻量级数据结构适配有限内存，采用极简的算术逻辑满足运算限制，并利用流水线并行特性优化数据流转，在遵守硬件规则的前提下实现了高效、精准的内联RTT测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241300"/>
            <a:ext cx="762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现有</a:t>
            </a:r>
            <a:r>
              <a:rPr lang="en-US" sz="32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RTT测量方法分类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997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3358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" y="1651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1778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01. 主动探测 (Active Probing)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814">
            <a:off x="889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2413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代表工具：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ping, iperf3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优劣势：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部署简单方便，但无法反映真实应用的RTT特征，会引入额外网络流量，且探测包可能被防火墙屏蔽，数据参考性有限。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C53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1778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02. 软件被动监测 (Software Passive)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6477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413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代表工具：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tcptrace, pping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优劣势：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能逐包分析获取准确RTT，但计算开销昂贵，对CPU资源消耗大，在高速网络环境下难以做到实时处理，存在明显的性能瓶颈。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" y="4064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89000" y="4191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03. 仅握手监测 (Handshake-only)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814">
            <a:off x="889008" y="469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89000" y="4826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代表工具：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RouteScout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优劣势：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实现简单且成本极低，但仅基于TCP握手获取单一样本，无法反映长连接过程中RTT的动态变化，数据颗粒度太粗，信息严重不足。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ED7D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191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04. 连续被动监测 (In-line Real-time - Dart)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814">
            <a:off x="6477008" y="469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77000" y="4826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准确、实时、连续的全流RTT测量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当前局限与解决方向：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依赖可编程交换机硬件支持，通过硬件卸载解决传统软件监测的性能瓶颈，实现无干扰的内联式测量，是下一代网络监测的主流方向。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8255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核心技术挑战（上）</a:t>
            </a:r>
            <a:r>
              <a:rPr lang="en-US" sz="3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——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RTT测量的正确性挑战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5900" y="23622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EB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" y="24892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</a:t>
            </a:r>
            <a:r>
              <a:rPr lang="en-US" sz="18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TCP重传歧义导致的确认不确定性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发送方发出数据包后超时重传，监控节点会捕获到两份完全相同的数据包副本。当ACK确认报文到达时，系统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无法准确判断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其确认的是原始包还是重传包，这种歧义直接造成RTT计算的根本性偏差，是数据平面测量的首要难题。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15900" y="42545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" y="43815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网络包乱序引发的RTT值错误膨胀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网络链路的复杂性易引发包乱序，接收方会持续ACK已正确接收的最大有序包，直到缺失包到达后发送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累积确认(ACK)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。这会导致后续已送达数据包的RTT被错误匹配到早期时间戳，使计算出的RTT数值远大于实际物理传输时间，产生严重的测量膨胀。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124700" y="2705100"/>
            <a:ext cx="4826000" cy="311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挑战总结：数据平面测量的核心障碍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TCP协议本身的重传机制与网络固有的乱序特性，构成了RTT测量正确性的两大核心挑战。重传歧义让ACK失去了明确的溯源能力，而累积确认机制则进一步放大了时间戳匹配的误差。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这些问题并非简单的参数调优可以解决，必须设计针对性的算法逻辑，从协议语义和数据关联层面重构RTT的计算方式，才能在复杂的真实网络环境中获取可信的测量结果。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9663706">
            <a:off x="4052277" y="2571759"/>
            <a:ext cx="14457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9234566">
            <a:off x="5516385" y="4902214"/>
            <a:ext cx="12099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9607574">
            <a:off x="4205029" y="4337060"/>
            <a:ext cx="13053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9319615">
            <a:off x="5402614" y="3136912"/>
            <a:ext cx="13359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9376820">
            <a:off x="4240528" y="4895836"/>
            <a:ext cx="117088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9665378">
            <a:off x="5409115" y="43370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9665378">
            <a:off x="5459915" y="25844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9375414">
            <a:off x="4146242" y="3105137"/>
            <a:ext cx="129596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5350537">
            <a:off x="32511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5350537">
            <a:off x="59562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367721">
            <a:off x="4127485" y="3835415"/>
            <a:ext cx="27051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151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151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227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227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68900" y="20701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68900" y="31496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168900" y="50292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95300" y="1397000"/>
            <a:ext cx="33274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 内存滞留：永不匹配的SEQ包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TCP采用累积ACK机制，若接收方收到包4后直接确认到4，会导致中间丢失的包2、3对应的SEQ条目无法被匹配回收。这些条目将永久滞留在内存中，形成无法释放的无效资源，持续浪费交换机宝贵的存储空间。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340601" y="1397000"/>
            <a:ext cx="4000500" cy="297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 资源占用：大RTT流的长期内存消耗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在跨洋、卫星等长距离网络路径中，RTT可达秒级甚至更长。TCP的SEQ条目需要长时间驻留内存等待ACK匹配，海量长RTT流并发时，会让有限的内存被长期占用，不仅降低了系统的并发处理能力，还可能引发内存资源的紧张与调度瓶颈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430394" y="4114780"/>
            <a:ext cx="3416300" cy="200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03 管理困境：无效状态的累积效应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SEQ包滞留与长RTT流占用相互叠加，会导致内存中堆积大量无效或低效的状态表项。这不仅大幅增加了内存管理的复杂度，还会引发哈希表冲突加剧、查找效率下降等连锁问题，进一步恶化系统的整体性能表现。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264400" y="4171353"/>
            <a:ext cx="36703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04 安全威胁：SYN泛洪的内存耗尽攻击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攻击者发送海量SYN包却不完成三次握手，若系统为每个SYN都创建完整的连接状态，内存表空间会被瞬间耗尽。这种恶意攻击直接利用了内存效率的短板，能轻易瘫痪RTT测量系统，是必须重点防范的安全风险。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" y="304800"/>
            <a:ext cx="762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核心技术挑战（下）— 内存效率挑战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5715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Strawman</a:t>
            </a:r>
            <a:r>
              <a:rPr lang="en-US" sz="26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基准方案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7999" y="1397000"/>
            <a:ext cx="11022013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基础设计思路：简单哈希表方案</a:t>
            </a:r>
            <a:endParaRPr lang="en-US" sz="2000"/>
          </a:p>
          <a:p>
            <a:pPr marL="0" indent="0" algn="l">
              <a:lnSpc>
                <a:spcPct val="108333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以 {Flow ID, eACK} 为 Key，数据包时间戳为 Value 构建哈希表；SEQ 包插入条目记录发送时间，ACK 包查找匹配条目计算差值即为 RTT，逻辑直观但未考虑真实网络复杂性。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508000" y="2794000"/>
            <a:ext cx="5715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真实TCP流量下的核心失效痛点</a:t>
            </a:r>
            <a:endParaRPr lang="en-US" sz="16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TCP重传、包乱序会导致匹配错误与数值异常；永不单独ACK会引发内存泄漏；哈希冲突会歧视长RTT数据流。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工程实现中的致命缺陷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缺乏数据包生命周期管理，无法保证测量准确性与内存可控性，高并发环境下稳定性极差。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0" y="4635500"/>
            <a:ext cx="571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结论：Strawman方案的改进方向</a:t>
            </a:r>
            <a:endParaRPr lang="en-US" sz="16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 err="1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其暴露的正确性、内存效率与公平性问题，是设计Dart系统的核心动因，需从数据校验、资源管理与样本聚合维度重构</a:t>
            </a: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808B3B-8390-C5B7-3815-B6D037747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175000"/>
            <a:ext cx="5748943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7467600" y="-457200"/>
            <a:ext cx="2286000" cy="7200900"/>
          </a:xfrm>
          <a:prstGeom prst="trapezoid">
            <a:avLst>
              <a:gd name="adj" fmla="val 16935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5400000">
            <a:off x="1333500" y="635000"/>
            <a:ext cx="2349500" cy="5003800"/>
          </a:xfrm>
          <a:prstGeom prst="trapezoid">
            <a:avLst>
              <a:gd name="adj" fmla="val 17865"/>
            </a:avLst>
          </a:prstGeom>
          <a:solidFill>
            <a:srgbClr val="8080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0" y="2413000"/>
            <a:ext cx="152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sz="7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59400" y="27305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系统设计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373" r="373"/>
          <a:stretch>
            <a:fillRect/>
          </a:stretch>
        </p:blipFill>
        <p:spPr>
          <a:xfrm>
            <a:off x="444500" y="1714500"/>
            <a:ext cx="2794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381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整体架构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4999" y="1016000"/>
            <a:ext cx="10919691" cy="850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Dart内联实时RTT测量系统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的架构由三大核心模块紧密协作构成，分别从流状态管理、包状态追踪、样本资源优化三个维度，保障RTT测量的正确性、效率与资源可控性。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4999" y="2032000"/>
            <a:ext cx="11180763" cy="406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三大核心模块的职能分工与协同机制：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Range Tracker (RT表) — 锚定流状态：</a:t>
            </a:r>
            <a:r>
              <a:rPr lang="en-US" sz="14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为每个TCP流维护独立的有效序列号测量窗口，精准判断数据包追踪价值，从源头过滤无效数据，确保RTT计算基础数据准确。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Packet Tracker (PT表) — 管理包状态：</a:t>
            </a:r>
            <a:r>
              <a:rPr lang="en-US" sz="14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存储SEQ包信息并等待ACK包匹配，通过惰性驱逐策略高效流转数据包状态，避免资源冗余，提升系统吞吐量。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03. Analytics模块 — 聚合样本数据：</a:t>
            </a:r>
            <a:r>
              <a:rPr lang="en-US" sz="14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按需聚合RTT样本，智能丢弃冗余样本，压缩存储与计算开销，实现轻量级高质量测量。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2FEF15-7D8F-762B-0BF8-082556A3D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98" y="3652948"/>
            <a:ext cx="10346604" cy="28621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241300"/>
            <a:ext cx="863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设计模块1 — Range Tracker (RT表)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1651000"/>
            <a:ext cx="3556000" cy="762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1905000"/>
            <a:ext cx="317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 核心：结构与过滤目标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750">
            <a:off x="952513" y="253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2794000"/>
            <a:ext cx="3175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核心目标是精准判断每个SEQ包能否生成有效RTT样本，从数据源头过滤重传、乱序等歧义数据包，保障RTT测量的准确性与可靠性。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572000"/>
            <a:ext cx="3175000" cy="1143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79500" y="46990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数据结构定义：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Key为哈希压缩后的TCP四元组（4字节），Value为动态测量区间 [Left, Right]，映射唯一流的有效测量范围。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72000" y="1651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46EB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1905000"/>
            <a:ext cx="317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6EBE"/>
                </a:solidFill>
                <a:latin typeface="微软雅黑"/>
                <a:ea typeface="微软雅黑"/>
                <a:cs typeface="微软雅黑"/>
                <a:sym typeface="微软雅黑"/>
              </a:rPr>
              <a:t>02 规则：正常数据包处理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4762513" y="2533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762500" y="2794000"/>
            <a:ext cx="317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▌ 接收正常 SEQ 数据包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判定为有效新数据时，将区间 Right 边界扩展至当前包最高字节位，扩大可追踪窗口，持续记录发送端最新进度以计算RTT。</a:t>
            </a:r>
          </a:p>
        </p:txBody>
      </p:sp>
      <p:cxnSp>
        <p:nvCxnSpPr>
          <p:cNvPr id="20" name="Connector 20"/>
          <p:cNvCxnSpPr/>
          <p:nvPr/>
        </p:nvCxnSpPr>
        <p:spPr>
          <a:xfrm rot="-13750">
            <a:off x="4762513" y="4184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762500" y="4445000"/>
            <a:ext cx="317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▌ 接收正常 ACK 确认数据包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收到确认应答后，将 Left 边界推进至已确认的最高字节位，剔除已完成交互的历史数据，收缩有效测量区间。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382000" y="1651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38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D953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572500" y="1905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534F"/>
                </a:solidFill>
                <a:latin typeface="微软雅黑"/>
                <a:ea typeface="微软雅黑"/>
                <a:cs typeface="微软雅黑"/>
                <a:sym typeface="微软雅黑"/>
              </a:rPr>
              <a:t>03 策略：异常包区间折叠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946">
            <a:off x="8572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572500" y="2794000"/>
            <a:ext cx="2921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当检测到重传SEQ包或重复ACK包时，数据时序出现歧义，无法保证RTT计算的正确性，需立即触发区间保护策略。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572500" y="4445000"/>
            <a:ext cx="2921000" cy="1206500"/>
          </a:xfrm>
          <a:prstGeom prst="roundRect">
            <a:avLst>
              <a:gd name="adj" fmla="val 0"/>
            </a:avLst>
          </a:prstGeom>
          <a:solidFill>
            <a:srgbClr val="FDED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699500" y="4572000"/>
            <a:ext cx="266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执行折叠动作：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强制将 Left 与 Right 边界重合，放弃对该流的当前追踪，避免因歧义数据生成错误RTT样本，待恢复正常后重新开启测量。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096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381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RT表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操作示例解析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495" y="923926"/>
            <a:ext cx="603517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RT表核心逻辑：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以滑动窗口机制为基础，通过动态维护测量范围的左右边界，精准追踪RTT样本，在异常场景下采取保守策略确保数据准确性。</a:t>
            </a:r>
            <a:endParaRPr lang="en-US" sz="1800"/>
          </a:p>
        </p:txBody>
      </p:sp>
      <p:sp>
        <p:nvSpPr>
          <p:cNvPr id="8" name="AutoShape 8"/>
          <p:cNvSpPr/>
          <p:nvPr/>
        </p:nvSpPr>
        <p:spPr>
          <a:xfrm>
            <a:off x="508000" y="1981200"/>
            <a:ext cx="6035675" cy="411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76200" rIns="88900" bIns="762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正常SEQ包处理：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当期望的SEQ号到达且超出当前右边界时，系统自动扩展右边界，并持续追踪该数据包的ACK反馈，确保测量窗口覆盖有效传输区间。</a:t>
            </a:r>
            <a:endParaRPr lang="en-US" sz="1800"/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正常ACK包推进：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若收到的ACK号成功覆盖测量窗口的左边界，将直接推进左边界至ACK对应的位置，剔除已完成确认的旧数据区间，保持窗口时效性。</a:t>
            </a:r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03. 异常场景保守折叠：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检测到重传、乱序等歧义情况时，立即执行窗口折叠（Left=Right），放弃当前窗口内所有待定追踪，避免错误样本干扰计算。</a:t>
            </a:r>
          </a:p>
          <a:p>
            <a:pPr marL="0" indent="0" algn="l">
              <a:lnSpc>
                <a:spcPct val="116666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04. 极简空洞处理策略：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仅维护最高连续字节区间，采用O(1)空间复杂度设计，不维护多窗口或零散空洞，保证系统轻量高效运行。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F2B7B7-4830-872F-19BF-4E94B7416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396" y="850900"/>
            <a:ext cx="3903166" cy="5774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863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PT表与Lazy Eviction机制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1016000"/>
            <a:ext cx="1079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核心痛点聚焦：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PT表负责存储数据包信息以等待ACK确认，当哈希表发生冲突时，新、旧条目该如何取舍？传统策略存在歧视长RTT流、浪费内存或实现成本高的致命缺陷，亟需创新机制突破。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2413000"/>
            <a:ext cx="10795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传统驱逐策略的三大不可行性分析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超时驱逐会歧视大RTT流（小超时误杀、大超时费内存）；直接覆盖旧条目是系统性偏见，彻底抛弃长时延流数据；主动扫描GC在高速数据平面实现成本极高，严重影响转发性能。</a:t>
            </a:r>
          </a:p>
          <a:p>
            <a:pPr marL="0"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Lazy Eviction（惰性驱逐）的设计初心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秉持“不驱逐就无偏见”的原则，拒绝无差别清理。仅在哈希冲突不得不驱逐时才介入处理，从根源上避免对长RTT流的不公平对待，保障测量样本的完整性。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" y="4889500"/>
            <a:ext cx="10541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3100" y="4457700"/>
            <a:ext cx="106299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核心机制：给旧条目“第二次机会”的再验证流程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冲突发生时不直接丢弃旧条目，而是将其送回流水线入口，重新通过RT表验证有效性。若旧条目仍处于有效序列号窗口内则保留，否则才清理，既保证内存效率又兼顾数据公平性。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" y="241300"/>
            <a:ext cx="863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模块2 — Lazy Eviction 流程详解（下）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4999" y="1143000"/>
            <a:ext cx="1053782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Lazy Eviction 核心逻辑：</a:t>
            </a:r>
            <a:r>
              <a:rPr lang="en-US" sz="20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当新数据包到达PT表发生哈希冲突时，优先让新条目占位，旧条目进入“再循环”流水线验证有效性，而非直接丢弃，以此消除长延迟包的系统性偏见。</a:t>
            </a:r>
            <a:endParaRPr lang="en-US" sz="2000"/>
          </a:p>
        </p:txBody>
      </p:sp>
      <p:sp>
        <p:nvSpPr>
          <p:cNvPr id="8" name="AutoShape 8"/>
          <p:cNvSpPr/>
          <p:nvPr/>
        </p:nvSpPr>
        <p:spPr>
          <a:xfrm>
            <a:off x="679995" y="2171700"/>
            <a:ext cx="5334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冲突处理与再循环流程的关键步骤</a:t>
            </a:r>
            <a:endParaRPr lang="en-US" sz="16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步骤1-3：</a:t>
            </a:r>
            <a:r>
              <a:rPr lang="en-US" sz="1600" b="0" i="0" u="none" strike="noStrike">
                <a:solidFill>
                  <a:srgbClr val="4D4D4D"/>
                </a:solidFill>
                <a:latin typeface="Noto Sans SC"/>
                <a:ea typeface="Noto Sans SC"/>
                <a:cs typeface="Noto Sans SC"/>
                <a:sym typeface="Noto Sans SC"/>
              </a:rPr>
              <a:t>新包到达PT表触发哈希冲突后，新条目直接存入PT表占据位置；旧条目被标记为“再循环”状态，重新送回流水线的入口节点等待二次处理。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步骤4-5：</a:t>
            </a:r>
            <a:r>
              <a:rPr lang="en-US" sz="1600" b="0" i="0" u="none" strike="noStrike">
                <a:solidFill>
                  <a:srgbClr val="4D4D4D"/>
                </a:solidFill>
                <a:latin typeface="Noto Sans SC"/>
                <a:ea typeface="Noto Sans SC"/>
                <a:cs typeface="Noto Sans SC"/>
                <a:sym typeface="Noto Sans SC"/>
              </a:rPr>
              <a:t>旧条目需再次经过RT表校验有效性：若所属流仍活跃则作为新包重新参与PT表竞争；若流已终止或数据过时，则直接执行丢弃操作。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4999" y="4318000"/>
            <a:ext cx="533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76200" rIns="88900" bIns="762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核心保障：防无限循环机制设计</a:t>
            </a:r>
            <a:endParaRPr lang="en-US" sz="16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Noto Sans SC"/>
                <a:ea typeface="Noto Sans SC"/>
                <a:cs typeface="Noto Sans SC"/>
                <a:sym typeface="Noto Sans SC"/>
              </a:rPr>
              <a:t>机制一：插入前置校验，若判定为同一数据包则直接跳过循环；机制二：循环次数限流，设置最大再循环次数上限，达到阈值则强制丢弃，杜绝死循环。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352943-AD8E-DBEE-1539-3AA939D08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989" y="2871787"/>
            <a:ext cx="5797743" cy="26216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5715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Lazy Eviction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机制运行示例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1016000"/>
            <a:ext cx="1079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核心场景引入：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当哈希表发生冲突时，Dart系统通过“Lazy Eviction（延迟驱逐）”策略，让旧条目获得重新验证的机会，而非直接丢弃，以此解决传统机制中大RTT流被短RTT流永久挤出的问题。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2413000"/>
            <a:ext cx="10795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冲突发生与初步处理：新旧条目动态博弈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假设PT表存在旧条目 {Flow=F3, eACK=600, 40ms}，新包 {Flow=F2, eACK=500, 80ms} 到达触发哈希冲突。系统将新条目存入PT表，旧条目不直接销毁，而是被标记进入“再循环队列”等待验证。</a:t>
            </a:r>
          </a:p>
          <a:p>
            <a:pPr marL="0"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旧条目回流RT表：有效性二次核验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旧条目F3被送回RT表校验：若其序列号范围已折叠，判定为过时条目直接丢弃；若范围仍覆盖eACK=600，判定为有效条目，重新作为“新包”参与PT表的存储竞争。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" y="4889500"/>
            <a:ext cx="10541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3100" y="4457700"/>
            <a:ext cx="106299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机制价值：根除大RTT流的不公平淘汰困境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大RTT流的数据包因等待ACK时间长，易被频繁到来的短RTT流挤出。Lazy Eviction为活跃流的旧条目提供持续的“复活”机会，确保长RTT流不会因哈希冲突永久丢失，保障了测量的全面性与公平性。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863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设计模块3 — Analytics模块与预判过滤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997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3358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" y="1778000"/>
            <a:ext cx="3505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1778000"/>
            <a:ext cx="3505200" cy="762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25500" y="2095500"/>
            <a:ext cx="3124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核心设计目标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974">
            <a:off x="825513" y="2787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25500" y="3048000"/>
            <a:ext cx="31242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紧扣上层应用的实际分析需求，建立主动的样本筛选机制，仅追踪对网络质量评估真正有价值的RTT数据。从源头剔除无效、冗余的数据包样本，避免系统为无意义数据付出存储、计算与传输的资源成本，实现测量系统的轻量化高效运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43400" y="1778000"/>
            <a:ext cx="3505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343400" y="1778000"/>
            <a:ext cx="35052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33900" y="2095500"/>
            <a:ext cx="3124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微软雅黑"/>
                <a:ea typeface="微软雅黑"/>
                <a:cs typeface="微软雅黑"/>
                <a:sym typeface="微软雅黑"/>
              </a:rPr>
              <a:t>02. Min-Filtering 核心策略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974">
            <a:off x="4533913" y="2787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33900" y="3048000"/>
            <a:ext cx="31242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系统仅聚焦时间窗口内的最小RTT值。当数据包的存活时长超过当前已记录的最小RTT时，可直接判定其无法产生更优的测量样本，无需再进入后续复杂的处理流程，直接执行丢弃操作，极大简化了数据处理链路。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1778000"/>
            <a:ext cx="3505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51800" y="1778000"/>
            <a:ext cx="3505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42300" y="2095500"/>
            <a:ext cx="3124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微软雅黑"/>
                <a:ea typeface="微软雅黑"/>
                <a:cs typeface="微软雅黑"/>
                <a:sym typeface="微软雅黑"/>
              </a:rPr>
              <a:t>03. 预判丢弃执行机制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974">
            <a:off x="8242313" y="2787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42300" y="3048000"/>
            <a:ext cx="31242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执行流程：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在PT表驱逐旧条目时触发预判：若“当前时间-条目时间戳”大于当前窗口最小RTT，直接丢弃以节省循环开销；若未超过，则执行再循环验证。该机制精准规避了无效数据的重复处理，提升系统吞吐量。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" y="5499100"/>
            <a:ext cx="10922000" cy="889000"/>
          </a:xfrm>
          <a:prstGeom prst="roundRect">
            <a:avLst>
              <a:gd name="adj" fmla="val 0"/>
            </a:avLst>
          </a:prstGeom>
          <a:solidFill>
            <a:srgbClr val="03358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5500" y="5670550"/>
            <a:ext cx="10541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Analytics模块通过“预判丢弃”机制重构了RTT数据的处理逻辑，将数据筛选前置，实现从“全量记录分析”到“按需精准追踪”的根本性转变，是降低系统资源占用、提升内联测量实时性的关键技术突破。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56896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安全防护</a:t>
            </a:r>
            <a:r>
              <a:rPr lang="en-US" sz="3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——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Dart应对攻击与拥塞的策略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5900" y="23622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EB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" y="24892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</a:t>
            </a:r>
            <a:r>
              <a:rPr lang="en-US" sz="18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抗SYN泛洪攻击：零内存占用的防御策略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Dart采取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完全忽略SYN和SYN-ACK包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的核心策略，仅在TCP三次握手完成后才为流创建RT条目。由于系统不记录任何握手阶段的数据包，海量的攻击流量无法占用数据平面的任何内存资源，从根源上免疫了SYN泛洪带来的内存耗尽风险。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15900" y="42545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" y="43815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抗网络拥塞：动态折叠与内存自稳机制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网络拥塞引发的重传与乱序会触发RT表测量范围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更频繁地折叠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，折叠后的RT条目可被安全回收，确保PT表不会异常膨胀。同时，RT范围的折叠频率还能作为</a:t>
            </a:r>
            <a:r>
              <a:rPr lang="en-US" sz="16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网络拥塞程度的间接指标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进行上报，为拥塞控制提供数据支撑。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124700" y="2705100"/>
            <a:ext cx="4826000" cy="311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核心价值：安全性与鲁棒性的双重保障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Dart在设计之初就将安全性置于核心位置，针对SYN泛洪攻击采用“无视握手包”的极简策略，彻底切断了攻击流量对系统内存的消耗路径，实现了零成本的攻击防御。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网络拥塞这一常态挑战，Dart通过RT表的动态折叠机制实现了内存的自我稳定，既避免了表项膨胀导致的性能下降，又挖掘了折叠频率的监控价值。这种设计让Dart系统能够在复杂、恶劣的网络环境中保持高效、稳定的运行状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4572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硬件实现与挑战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1016000"/>
            <a:ext cx="1079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硬件平台与资源效能核心：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基于Intel Tofino可编程交换机与P4语言构建内联RTT测量系统，硬件资源占用极致精简，SRAM仅占1.4%、TCAM占2.9%、Hash Units占35.8%，可无缝与其他网络功能共存，保障设备运行高效稳定。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2413000"/>
            <a:ext cx="10795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核心挑战01：硬件内存与计算约束的突破方案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针对顺序内存不可回读问题，将RT与PT表拆分3个子表跨3级流水线并行处理；面对流签名12字节与寄存器4字节不匹配，采用CRC哈希压缩为4字节签名适配硬件；计算TCP载荷长度需多级算术的问题，预计算常见值存入查找表，规避实时复杂运算开销。</a:t>
            </a:r>
          </a:p>
          <a:p>
            <a:pPr marL="0"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核心挑战02：网络特性与硬件适配的关键策略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应对32位序列号回绕溢出，在回绕触发时重置Left值为0维持窗口有效性；针对再循环分组乱序到达的问题，在入向端口直接检查并更新最新流记录，确保每流状态始终与实际网络传输一致，保障测量精准度。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" y="4889500"/>
            <a:ext cx="10541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3100" y="4457700"/>
            <a:ext cx="106299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系统价值：低资源高兼容的工业级落地能力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通过上述针对性的硬件适配方案，Dart系统在满足线速处理需求的同时，实现了资源占用的最小化，不仅解决了可编程交换机上实现RTT测量的诸多技术壁垒，更具备了与现有网络服务融合部署的极强可行性。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241300"/>
            <a:ext cx="762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Dart与</a:t>
            </a:r>
            <a:r>
              <a:rPr lang="en-US" sz="32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相关RTT测量工作的对比分析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-3997">
            <a:off x="635004" y="1263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3358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" y="1651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1778000"/>
            <a:ext cx="501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01. 实时性与线速处理能力对比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814">
            <a:off x="889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89000" y="2413000"/>
            <a:ext cx="5016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现状差异：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tcptrace仅支持离线分析，无法应对实时网络需求；Dapper、Chen et al. 及RouteScout虽支持实时，但在高速链路下存在性能损耗。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Dart优势：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完美支持实时处理，且依托数据平面硬件加速实现了线速运行，填补了高精度实时RTT测量的空白，适应现代高速网络环境。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C53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501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53A6"/>
                </a:solidFill>
                <a:latin typeface="Noto Sans SC"/>
                <a:ea typeface="Noto Sans SC"/>
                <a:cs typeface="Noto Sans SC"/>
                <a:sym typeface="Noto Sans SC"/>
              </a:rPr>
              <a:t>02. 逐包测量与歧义消解能力对比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814">
            <a:off x="6477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2413000"/>
            <a:ext cx="5016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现有短板：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Dapper、Chen et al. 无法处理重传与乱序带来的歧义，也不支持逐包连续RTT计算；RouteScout仅关注握手阶段，无连续测量能力。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Dart突破：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具备与tcptrace同级的逐包连续RTT测量能力，且能精准消解重传、乱序歧义，确保测量结果的真实性与连续性。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" y="4064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191000"/>
            <a:ext cx="501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03. 测量公正性与资源开销对比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814">
            <a:off x="889008" y="469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89000" y="4826000"/>
            <a:ext cx="5016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公正性与空间：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多数系统存在大RTT偏见，且tcptrace每流空间开销大，RouteScout虽空间小但信息缺失。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Dart表现：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实现无大RTT偏见的精准测量，同时将每流空间复杂度优化至O(1)，极大降低了硬件资源占用，适配大规模网络部署。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23000" y="4064000"/>
            <a:ext cx="5397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23000" y="406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ED7D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4191000"/>
            <a:ext cx="5016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04. Dart的核心创新与行业价值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814">
            <a:off x="6477008" y="4692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4826000"/>
            <a:ext cx="5016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技术里程碑：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首次将软件级精度（tcptrace级别）搬到数据平面以线速运行。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应用意义：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解决了传统方案“准确但不实时、实时但不准确”的两难困境，为网络拥塞控制、路径优化、故障诊断提供了高精度、低延迟的实时数据支撑。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 rot="-5400000">
            <a:off x="7467600" y="-457200"/>
            <a:ext cx="2286000" cy="7200900"/>
          </a:xfrm>
          <a:prstGeom prst="trapezoid">
            <a:avLst>
              <a:gd name="adj" fmla="val 16935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1333500" y="635000"/>
            <a:ext cx="2349500" cy="5003800"/>
          </a:xfrm>
          <a:prstGeom prst="trapezoid">
            <a:avLst>
              <a:gd name="adj" fmla="val 17865"/>
            </a:avLst>
          </a:prstGeom>
          <a:solidFill>
            <a:srgbClr val="8080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733800" y="2552700"/>
            <a:ext cx="11684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sz="7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59400" y="2806700"/>
            <a:ext cx="33020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仿真与实验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0200" y="1689100"/>
            <a:ext cx="30861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572500" y="2463800"/>
            <a:ext cx="190500" cy="3810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572500" y="3238500"/>
            <a:ext cx="190500" cy="381000"/>
          </a:xfrm>
          <a:prstGeom prst="roundRect">
            <a:avLst>
              <a:gd name="adj" fmla="val 0"/>
            </a:avLst>
          </a:prstGeom>
          <a:solidFill>
            <a:srgbClr val="03358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" y="4826000"/>
            <a:ext cx="1092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241300"/>
            <a:ext cx="8636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系统的多维度实验验证与性能评估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-3997">
            <a:off x="635004" y="13906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3358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" y="1778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1778000"/>
            <a:ext cx="3556000" cy="76200"/>
          </a:xfrm>
          <a:prstGeom prst="roundRect">
            <a:avLst>
              <a:gd name="adj" fmla="val 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2032000"/>
            <a:ext cx="330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01. 硬件交换机真实流量重放验证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222">
            <a:off x="762012" y="2533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62000" y="2667000"/>
            <a:ext cx="330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基于Tofino1硬件交换机搭建真实实验环境，全量重放校园网采集的实际网络流量。重点验证Dart系统在真实硬件部署场景下的运行稳定性、攻击检测能力及流量处理的实时性，确保算法从理论到工程落地的可行性。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1778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1778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75DA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72000" y="2032000"/>
            <a:ext cx="330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D"/>
                </a:solidFill>
                <a:latin typeface="Noto Sans SC"/>
                <a:ea typeface="Noto Sans SC"/>
                <a:cs typeface="Noto Sans SC"/>
                <a:sym typeface="Noto Sans SC"/>
              </a:rPr>
              <a:t>02. 无限内存仿真的理论精度对标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222">
            <a:off x="4572012" y="2533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667000"/>
            <a:ext cx="330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构建Python无限内存仿真环境，选取业界公认的tcptrace作为离线基准工具进行对比测试。在排除硬件资源限制的理想条件下，量化分析Dart算法的测量误差，精准验证其理论精度上限，确立算法的技术先进性。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1778000"/>
            <a:ext cx="3556000" cy="76200"/>
          </a:xfrm>
          <a:prstGeom prst="roundRect">
            <a:avLst>
              <a:gd name="adj" fmla="val 0"/>
            </a:avLst>
          </a:prstGeom>
          <a:solidFill>
            <a:srgbClr val="3F85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55000" y="2032000"/>
            <a:ext cx="330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F85D5"/>
                </a:solidFill>
                <a:latin typeface="Noto Sans SC"/>
                <a:ea typeface="Noto Sans SC"/>
                <a:cs typeface="Noto Sans SC"/>
                <a:sym typeface="Noto Sans SC"/>
              </a:rPr>
              <a:t>03. 有限内存配置下的精度影响分析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222">
            <a:off x="8255012" y="2533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2667000"/>
            <a:ext cx="330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Python仿真实验调整内存分配参数，系统测试不同内存限额对Dart测量精度的影响趋势。深入探究资源受限场景下的性能瓶颈，寻找兼顾检测精度与系统资源消耗的最优参数配置，为实际工程部署提供科学依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" y="4953000"/>
            <a:ext cx="11049000" cy="1397000"/>
          </a:xfrm>
          <a:prstGeom prst="roundRect">
            <a:avLst>
              <a:gd name="adj" fmla="val 0"/>
            </a:avLst>
          </a:prstGeom>
          <a:solidFill>
            <a:srgbClr val="03358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5105400"/>
            <a:ext cx="342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3358E"/>
                </a:solidFill>
                <a:latin typeface="Arial"/>
                <a:ea typeface="Arial"/>
                <a:cs typeface="Arial"/>
                <a:sym typeface="Arial"/>
              </a:rPr>
              <a:t>138万+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实验覆盖TCP连接总量，支撑大规模复杂场景验证</a:t>
            </a:r>
          </a:p>
        </p:txBody>
      </p:sp>
      <p:cxnSp>
        <p:nvCxnSpPr>
          <p:cNvPr id="25" name="Connector 25"/>
          <p:cNvCxnSpPr/>
          <p:nvPr/>
        </p:nvCxnSpPr>
        <p:spPr>
          <a:xfrm rot="5350892">
            <a:off x="3873500" y="5772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4508500" y="5130800"/>
            <a:ext cx="342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75DAD"/>
                </a:solidFill>
                <a:latin typeface="Arial"/>
                <a:ea typeface="Arial"/>
                <a:cs typeface="Arial"/>
                <a:sym typeface="Arial"/>
              </a:rPr>
              <a:t>1.3578亿+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处理TCP数据包规模，还原真实网络的高密度流量特征</a:t>
            </a:r>
          </a:p>
        </p:txBody>
      </p:sp>
      <p:cxnSp>
        <p:nvCxnSpPr>
          <p:cNvPr id="27" name="Connector 27"/>
          <p:cNvCxnSpPr/>
          <p:nvPr/>
        </p:nvCxnSpPr>
        <p:spPr>
          <a:xfrm rot="5350892">
            <a:off x="7556500" y="5772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55000" y="5130800"/>
            <a:ext cx="330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F85D5"/>
                </a:solidFill>
                <a:latin typeface="Arial"/>
                <a:ea typeface="Arial"/>
                <a:cs typeface="Arial"/>
                <a:sym typeface="Arial"/>
              </a:rPr>
              <a:t>24万 pps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网络流量平均处理速率，满足高速骨干链路的实时需求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实验1a —— 校园网有线 vs 无线子网RTT对比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8999" y="1576385"/>
            <a:ext cx="5326063" cy="234791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有线子网</a:t>
            </a:r>
            <a:r>
              <a:rPr lang="zh-CN" altLang="en-US" sz="2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2800" b="1" i="0" u="none" strike="noStrike">
              <a:solidFill>
                <a:srgbClr val="03358E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algn="l">
              <a:lnSpc>
                <a:spcPct val="100000"/>
              </a:lnSpc>
              <a:defRPr/>
            </a:pPr>
            <a:r>
              <a:rPr lang="zh-CN" altLang="zh-CN" sz="2400"/>
              <a:t>收集166万RTT样本</a:t>
            </a:r>
          </a:p>
          <a:p>
            <a:r>
              <a:rPr lang="zh-CN" altLang="zh-CN" sz="2400"/>
              <a:t>超过80%的内部RTT小于1ms</a:t>
            </a:r>
          </a:p>
          <a:p>
            <a:r>
              <a:rPr lang="zh-CN" altLang="zh-CN" sz="2400"/>
              <a:t>端到端90th百分位为9ms，其中校园内部延迟仅占2ms</a:t>
            </a:r>
          </a:p>
        </p:txBody>
      </p:sp>
      <p:sp>
        <p:nvSpPr>
          <p:cNvPr id="6" name="AutoShape 6"/>
          <p:cNvSpPr/>
          <p:nvPr/>
        </p:nvSpPr>
        <p:spPr>
          <a:xfrm>
            <a:off x="6215062" y="1523998"/>
            <a:ext cx="5080000" cy="350058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无线子网</a:t>
            </a:r>
            <a:r>
              <a:rPr lang="zh-CN" altLang="en-US" sz="2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2800"/>
          </a:p>
          <a:p>
            <a:r>
              <a:rPr lang="zh-CN" altLang="zh-CN" sz="2400"/>
              <a:t>收集1112万RTT样本</a:t>
            </a:r>
          </a:p>
          <a:p>
            <a:r>
              <a:rPr lang="zh-CN" altLang="zh-CN" sz="2400"/>
              <a:t>不足40%的内部RTT小于1ms，超过20%的内部RTT大于20ms</a:t>
            </a:r>
          </a:p>
          <a:p>
            <a:r>
              <a:rPr lang="zh-CN" altLang="zh-CN" sz="2400"/>
              <a:t>端到端90th百分位为14ms，其中校园内部延迟高达8ms</a:t>
            </a:r>
          </a:p>
        </p:txBody>
      </p:sp>
      <p:sp>
        <p:nvSpPr>
          <p:cNvPr id="7" name="AutoShape 7"/>
          <p:cNvSpPr/>
          <p:nvPr/>
        </p:nvSpPr>
        <p:spPr>
          <a:xfrm>
            <a:off x="888999" y="4357683"/>
            <a:ext cx="10795001" cy="406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19050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28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关键发现</a:t>
            </a:r>
            <a:r>
              <a:rPr lang="en-US" sz="2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zh-CN" sz="2800"/>
              <a:t>无线终端的校园内部延迟（8ms）已接近广域网延迟水平，Dart能精确量化不同接入方式的延迟差异，为网络运维提供数据支撑。</a:t>
            </a:r>
            <a:endParaRPr lang="en-US" sz="2800" b="0" i="0" u="none" strike="noStrike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6223000"/>
            <a:ext cx="3594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762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实验1b —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BGP流量拦截攻击检测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1016000"/>
            <a:ext cx="9067800" cy="850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模拟BGP劫持攻击场景：正常路径RTT约25ms，攻击者恶意将流量重定向经荷兰阿姆斯特丹节点，使数据往返路径大幅拉长，RTT异常飙升至约120ms。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1943100"/>
            <a:ext cx="10922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核心检测逻辑：</a:t>
            </a: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采用滑动窗口机制持续计算链路最小RTT，通过监控相邻窗口最小值的突变特征（如数值激增），精准识别异常的路由篡改行为，实现攻击的快速判定。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实时响应成效：</a:t>
            </a: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攻击在t=36秒生效后，RTT从25ms跃升至120ms，Dart系统仅捕获</a:t>
            </a:r>
            <a:r>
              <a:rPr lang="en-US" sz="1600" b="1" i="0" u="none" strike="noStrike">
                <a:solidFill>
                  <a:srgbClr val="D93025"/>
                </a:solidFill>
                <a:latin typeface="微软雅黑"/>
                <a:ea typeface="微软雅黑"/>
                <a:cs typeface="微软雅黑"/>
                <a:sym typeface="微软雅黑"/>
              </a:rPr>
              <a:t>63个数据包（耗时2.58秒）</a:t>
            </a: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即完成异常确认，验证了系统在复杂网络攻击下的毫秒级感知与快速溯源能力。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CE817A-CD0A-B481-B179-9DE4E9291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389" y="3317713"/>
            <a:ext cx="8309884" cy="290528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8636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实验2a —与tcptrace基准对比（样本数量）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5900" y="23622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EB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" y="24892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RTT样本捕获率实测对比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实测显示，含握手场景下Dart捕获753万样本，占tcptrace的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82.6%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；不含握手场景下捕获721万样本，占比提升至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83.3%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。数据表明Dart在不同连接状态下均保持了极高的样本覆盖能力。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15900" y="42545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" y="43815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样本差异的非随机归因分析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差异并非随机丢失：Dart在序列空洞时仅跟踪最高连续区间，且回绕时保守放弃少量样本；而tcptrace存在设计缺陷，偶将1个RTT错误拆分为2个，此取舍保证了Dart测量的</a:t>
            </a:r>
            <a:r>
              <a:rPr lang="en-US" sz="16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逻辑严谨性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与结果可信度。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95AA949-5AFE-EEE2-04F1-728E3B30A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777" y="2442002"/>
            <a:ext cx="4484106" cy="312406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35000" y="241300"/>
            <a:ext cx="5715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实验2b —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RTT分布对比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016000"/>
            <a:ext cx="10922000" cy="850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本实验选取包含SYN包的网络流量样本，对比经典分析工具 tcptrace 与 Dart 系统的 RTT 分位数分布特征，核心验证 Lazy Eviction 机制对大 RTT 极端样本的统计偏误消除效果。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866900"/>
            <a:ext cx="1092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核心分位数数据对标：</a:t>
            </a:r>
            <a:r>
              <a:rPr lang="en-US" sz="14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中位数层面，tcptrace 测得 14ms，Dart 测得 13ms，结果几乎完全一致；95th 百分位上，；而在关键的 99th 极端百分位上，两者数值均为 215ms，实现完美重合。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统计特征一致性分析：</a:t>
            </a:r>
            <a:r>
              <a:rPr lang="en-US" sz="14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从常规样本到长尾极端样本，两套系统的统计结果高度收敛，未出现系统性的偏移或失真，证明 Dart 对 RTT 样本的捕捉具有极高的还原度。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" y="5714134"/>
            <a:ext cx="10922000" cy="727075"/>
          </a:xfrm>
          <a:prstGeom prst="roundRect">
            <a:avLst>
              <a:gd name="adj" fmla="val 0"/>
            </a:avLst>
          </a:prstGeom>
          <a:solidFill>
            <a:srgbClr val="03358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endParaRPr lang="en-US" sz="1500" b="1" i="0" u="none" strike="noStrike">
              <a:solidFill>
                <a:srgbClr val="03358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en-US" sz="15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关键结论：</a:t>
            </a:r>
            <a:r>
              <a:rPr lang="zh-CN" altLang="zh-CN">
                <a:solidFill>
                  <a:srgbClr val="03358E"/>
                </a:solidFill>
                <a:latin typeface="Noto Sans SC"/>
                <a:ea typeface="Noto Sans SC"/>
              </a:rPr>
              <a:t>95th百分位上Dart为39ms、tcptrace为57ms，该差异源于Dart在序列空洞时保守折叠范围、主动放弃歧义区间样本的设计取舍。而在关键的长尾指标上——99th百分位两者均为215ms，完美重合，证明Dart无大RTT系统性偏差。</a:t>
            </a:r>
          </a:p>
          <a:p>
            <a:br>
              <a:rPr lang="zh-CN" altLang="zh-CN" sz="1100"/>
            </a:br>
            <a:endParaRPr lang="en-US" sz="11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6536CF-2BF8-375D-CD5A-E5B859B7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737" y="3197218"/>
            <a:ext cx="6561905" cy="22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241300"/>
            <a:ext cx="56896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实验2c —— 跳过握手RTT的收益分析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5900" y="23622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EB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" y="24892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校园网实测：无效连接占比惊人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基于校园网15分钟流量统计显示，总TCP连接数达到138万条，其中握手未完成就中断的无效连接高达100万条，占比达到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72.5%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。这意味着绝大部分连接无需建立完整状态，为跳过握手阶段的优化提供了现实依据。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215900" y="4254500"/>
            <a:ext cx="67183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2900" y="4381500"/>
            <a:ext cx="64643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收益量化：内存释放与精度损耗的博弈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跳过握手策略可避免为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72.5%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的无效连接创建内核状态，极大节省内存资源；而在RTT测量精度上，仅损失</a:t>
            </a:r>
            <a:r>
              <a:rPr lang="en-US" sz="1600" b="1" i="0" u="none" strike="noStrike">
                <a:solidFill>
                  <a:srgbClr val="03358E"/>
                </a:solidFill>
                <a:latin typeface="Noto Sans SC"/>
                <a:ea typeface="Noto Sans SC"/>
                <a:cs typeface="Noto Sans SC"/>
                <a:sym typeface="Noto Sans SC"/>
              </a:rPr>
              <a:t>4.2%</a:t>
            </a:r>
            <a:r>
              <a:rPr lang="en-US" sz="1400" b="0" i="0" u="none" strike="noStrike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的有效样本，精度影响微乎其微，实现了资源与精度的最优解。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5736" r="5736"/>
          <a:stretch>
            <a:fillRect/>
          </a:stretch>
        </p:blipFill>
        <p:spPr>
          <a:xfrm>
            <a:off x="7366000" y="2413000"/>
            <a:ext cx="4445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81000"/>
            <a:ext cx="1079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实验3 — 有限内存配置对性能的影响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143000"/>
            <a:ext cx="10795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PT表大小的最优拐点：131K的临界阈值效应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10795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实验A数据证实，PT表配置为131K（2的17次方）是兼顾内存与效率的最优拐点。此配置下系统可收集超过99%的有效样本数据，同时整体误差被严格控制在5%以内，实现了内存占用与数据完整性的完美平衡。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2476500"/>
            <a:ext cx="10795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哈希表拆分与再循环策略的性能博弈机制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2984500"/>
            <a:ext cx="10795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实验B表明仅拆分PT表级数而不增加总内存会导致中位数误差恶化，反而损害性能；但实验C验证了拆分配合再循环的逆转效果，采用8级PT表并允许4次再循环操作，可使系统测量误差几乎归零，且未引入额外的工程性能瓶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3746500"/>
            <a:ext cx="10795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工程落地的核心推荐配置：</a:t>
            </a:r>
            <a:r>
              <a:rPr lang="en-US" sz="14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建议跳过SYN包以减少无效计算，将PT表大小设置为不小于131K的规模，并将最大再循环次数设定为4次。该组合配置能在有限内存资源约束下，最大化RTT测量的准确性与系统运行效率。</a:t>
            </a:r>
            <a:endParaRPr lang="en-US" sz="11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46AF4A-14A4-768B-8C2F-43DC04E55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44" y="4360425"/>
            <a:ext cx="9847619" cy="22380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2044700" y="3848100"/>
            <a:ext cx="1093019" cy="1520708"/>
          </a:xfrm>
          <a:custGeom>
            <a:avLst/>
            <a:gdLst/>
            <a:ahLst/>
            <a:cxnLst/>
            <a:rect l="l" t="t" r="r" b="b"/>
            <a:pathLst>
              <a:path w="1093019" h="1520708">
                <a:moveTo>
                  <a:pt x="138238" y="1343163"/>
                </a:moveTo>
                <a:lnTo>
                  <a:pt x="149953" y="437429"/>
                </a:lnTo>
                <a:cubicBezTo>
                  <a:pt x="156982" y="275323"/>
                  <a:pt x="213215" y="272750"/>
                  <a:pt x="309279" y="270176"/>
                </a:cubicBezTo>
                <a:lnTo>
                  <a:pt x="843487" y="259884"/>
                </a:lnTo>
                <a:lnTo>
                  <a:pt x="843487" y="411697"/>
                </a:lnTo>
                <a:lnTo>
                  <a:pt x="1093019" y="196842"/>
                </a:lnTo>
                <a:lnTo>
                  <a:pt x="834116" y="0"/>
                </a:lnTo>
                <a:lnTo>
                  <a:pt x="836459" y="118363"/>
                </a:lnTo>
                <a:cubicBezTo>
                  <a:pt x="836459" y="118363"/>
                  <a:pt x="475633" y="120936"/>
                  <a:pt x="274133" y="120936"/>
                </a:cubicBezTo>
                <a:cubicBezTo>
                  <a:pt x="70291" y="123509"/>
                  <a:pt x="2343" y="200703"/>
                  <a:pt x="0" y="383394"/>
                </a:cubicBezTo>
                <a:lnTo>
                  <a:pt x="0" y="1361175"/>
                </a:lnTo>
                <a:cubicBezTo>
                  <a:pt x="23430" y="1520708"/>
                  <a:pt x="108951" y="1505269"/>
                  <a:pt x="138238" y="1343163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 rot="-5400000">
            <a:off x="2336800" y="3225800"/>
            <a:ext cx="324863" cy="1299204"/>
          </a:xfrm>
          <a:custGeom>
            <a:avLst/>
            <a:gdLst/>
            <a:ahLst/>
            <a:cxnLst/>
            <a:rect l="l" t="t" r="r" b="b"/>
            <a:pathLst>
              <a:path w="324863" h="1299204">
                <a:moveTo>
                  <a:pt x="84647" y="2151"/>
                </a:moveTo>
                <a:lnTo>
                  <a:pt x="102950" y="1015272"/>
                </a:lnTo>
                <a:lnTo>
                  <a:pt x="0" y="1019574"/>
                </a:lnTo>
                <a:lnTo>
                  <a:pt x="164719" y="1299204"/>
                </a:lnTo>
                <a:lnTo>
                  <a:pt x="324863" y="1019574"/>
                </a:lnTo>
                <a:lnTo>
                  <a:pt x="228777" y="1019574"/>
                </a:lnTo>
                <a:lnTo>
                  <a:pt x="226489" y="0"/>
                </a:lnTo>
                <a:lnTo>
                  <a:pt x="84647" y="2151"/>
                </a:ln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032000" y="2197100"/>
            <a:ext cx="1093019" cy="1761588"/>
          </a:xfrm>
          <a:custGeom>
            <a:avLst/>
            <a:gdLst/>
            <a:ahLst/>
            <a:cxnLst/>
            <a:rect l="l" t="t" r="r" b="b"/>
            <a:pathLst>
              <a:path w="1093019" h="1761588">
                <a:moveTo>
                  <a:pt x="138238" y="1555920"/>
                </a:moveTo>
                <a:lnTo>
                  <a:pt x="149953" y="506717"/>
                </a:lnTo>
                <a:cubicBezTo>
                  <a:pt x="156982" y="318934"/>
                  <a:pt x="213215" y="315953"/>
                  <a:pt x="309279" y="312972"/>
                </a:cubicBezTo>
                <a:lnTo>
                  <a:pt x="843487" y="301050"/>
                </a:lnTo>
                <a:lnTo>
                  <a:pt x="843487" y="476910"/>
                </a:lnTo>
                <a:lnTo>
                  <a:pt x="1093019" y="228023"/>
                </a:lnTo>
                <a:lnTo>
                  <a:pt x="834116" y="0"/>
                </a:lnTo>
                <a:lnTo>
                  <a:pt x="836459" y="137112"/>
                </a:lnTo>
                <a:cubicBezTo>
                  <a:pt x="836459" y="137112"/>
                  <a:pt x="475633" y="140092"/>
                  <a:pt x="274133" y="140092"/>
                </a:cubicBezTo>
                <a:cubicBezTo>
                  <a:pt x="70291" y="143073"/>
                  <a:pt x="2343" y="232494"/>
                  <a:pt x="0" y="444123"/>
                </a:cubicBezTo>
                <a:lnTo>
                  <a:pt x="0" y="1576785"/>
                </a:lnTo>
                <a:cubicBezTo>
                  <a:pt x="23430" y="1761588"/>
                  <a:pt x="108951" y="1743704"/>
                  <a:pt x="138238" y="1555920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08500" y="1803400"/>
            <a:ext cx="5918200" cy="1193800"/>
          </a:xfrm>
          <a:prstGeom prst="roundRect">
            <a:avLst>
              <a:gd name="adj" fmla="val 11702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实现了超过99%的RTT样本收集率，数据分布误差接近0%，且不存在对大RTT样本的系统性偏差，确保了网络状态测量的真实性与完整性，为上层决策提供了可靠的数据支撑。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63900" y="1790700"/>
            <a:ext cx="1244600" cy="1206500"/>
          </a:xfrm>
          <a:prstGeom prst="roundRect">
            <a:avLst>
              <a:gd name="adj" fmla="val 11578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数据精准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3251200"/>
            <a:ext cx="5918200" cy="1193800"/>
          </a:xfrm>
          <a:prstGeom prst="roundRect">
            <a:avLst>
              <a:gd name="adj" fmla="val 11702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BGP攻击检测延迟仅需63个数据包（约2.58秒），每流空间复杂度为O(1)常量级，且处理速率完全满足Tofino芯片的线速要求，实现了实时高效的网络异常响应。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63900" y="3251200"/>
            <a:ext cx="1244600" cy="1193800"/>
          </a:xfrm>
          <a:prstGeom prst="roundRect">
            <a:avLst>
              <a:gd name="adj" fmla="val 11702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极速高效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4699000"/>
            <a:ext cx="5918200" cy="1181100"/>
          </a:xfrm>
          <a:prstGeom prst="roundRect">
            <a:avLst>
              <a:gd name="adj" fmla="val 11827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系统运行时的硬件SRAM占用仅为1.4%，在提供高性能RTT测量与安全检测能力的同时，几乎不消耗额外的硬件资源，具备极强的部署轻量化优势与成本效益。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263900" y="4699000"/>
            <a:ext cx="1244600" cy="1181100"/>
          </a:xfrm>
          <a:prstGeom prst="roundRect">
            <a:avLst>
              <a:gd name="adj" fmla="val 11827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资源极省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95400" y="3149600"/>
            <a:ext cx="1574800" cy="12954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性能汇总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" y="215900"/>
            <a:ext cx="96139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最终性能 ——Dart系统的极致表现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 rot="5400000">
            <a:off x="1333500" y="635000"/>
            <a:ext cx="2349500" cy="5003800"/>
          </a:xfrm>
          <a:prstGeom prst="trapezoid">
            <a:avLst>
              <a:gd name="adj" fmla="val 17865"/>
            </a:avLst>
          </a:prstGeom>
          <a:solidFill>
            <a:srgbClr val="8080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-5400000">
            <a:off x="7442200" y="-457200"/>
            <a:ext cx="2286000" cy="7200900"/>
          </a:xfrm>
          <a:prstGeom prst="trapezoid">
            <a:avLst>
              <a:gd name="adj" fmla="val 16935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29000" y="2413000"/>
            <a:ext cx="203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US" sz="8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2667000"/>
            <a:ext cx="431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37" b="37"/>
          <a:stretch>
            <a:fillRect/>
          </a:stretch>
        </p:blipFill>
        <p:spPr>
          <a:xfrm>
            <a:off x="330200" y="1689100"/>
            <a:ext cx="30861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84200" y="5080000"/>
            <a:ext cx="110236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1854200" y="3924300"/>
            <a:ext cx="1163955" cy="2025650"/>
          </a:xfrm>
          <a:custGeom>
            <a:avLst/>
            <a:gdLst/>
            <a:ahLst/>
            <a:cxnLst/>
            <a:rect l="l" t="t" r="r" b="b"/>
            <a:pathLst>
              <a:path w="1163955" h="2025650">
                <a:moveTo>
                  <a:pt x="147210" y="1789153"/>
                </a:moveTo>
                <a:lnTo>
                  <a:pt x="159685" y="582675"/>
                </a:lnTo>
                <a:cubicBezTo>
                  <a:pt x="167170" y="366742"/>
                  <a:pt x="227052" y="363314"/>
                  <a:pt x="329350" y="359888"/>
                </a:cubicBezTo>
                <a:lnTo>
                  <a:pt x="898229" y="346177"/>
                </a:lnTo>
                <a:lnTo>
                  <a:pt x="898229" y="548399"/>
                </a:lnTo>
                <a:lnTo>
                  <a:pt x="1163955" y="262203"/>
                </a:lnTo>
                <a:lnTo>
                  <a:pt x="888248" y="0"/>
                </a:lnTo>
                <a:lnTo>
                  <a:pt x="890744" y="157665"/>
                </a:lnTo>
                <a:cubicBezTo>
                  <a:pt x="890744" y="157665"/>
                  <a:pt x="506501" y="161092"/>
                  <a:pt x="291925" y="161092"/>
                </a:cubicBezTo>
                <a:cubicBezTo>
                  <a:pt x="74853" y="164520"/>
                  <a:pt x="2496" y="267345"/>
                  <a:pt x="0" y="510697"/>
                </a:cubicBezTo>
                <a:lnTo>
                  <a:pt x="0" y="1813145"/>
                </a:lnTo>
                <a:cubicBezTo>
                  <a:pt x="24950" y="2025650"/>
                  <a:pt x="116021" y="2005085"/>
                  <a:pt x="147210" y="1789153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 rot="-5400000">
            <a:off x="2260600" y="2971800"/>
            <a:ext cx="325120" cy="1196975"/>
          </a:xfrm>
          <a:custGeom>
            <a:avLst/>
            <a:gdLst/>
            <a:ahLst/>
            <a:cxnLst/>
            <a:rect l="l" t="t" r="r" b="b"/>
            <a:pathLst>
              <a:path w="325120" h="1196975">
                <a:moveTo>
                  <a:pt x="84714" y="1981"/>
                </a:moveTo>
                <a:lnTo>
                  <a:pt x="103031" y="935384"/>
                </a:lnTo>
                <a:lnTo>
                  <a:pt x="0" y="939348"/>
                </a:lnTo>
                <a:lnTo>
                  <a:pt x="164850" y="1196975"/>
                </a:lnTo>
                <a:lnTo>
                  <a:pt x="325120" y="939348"/>
                </a:lnTo>
                <a:lnTo>
                  <a:pt x="228958" y="939348"/>
                </a:lnTo>
                <a:lnTo>
                  <a:pt x="226668" y="0"/>
                </a:lnTo>
                <a:lnTo>
                  <a:pt x="84714" y="1981"/>
                </a:ln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828800" y="1231900"/>
            <a:ext cx="1226820" cy="2542540"/>
          </a:xfrm>
          <a:custGeom>
            <a:avLst/>
            <a:gdLst/>
            <a:ahLst/>
            <a:cxnLst/>
            <a:rect l="l" t="t" r="r" b="b"/>
            <a:pathLst>
              <a:path w="1226820" h="2542540">
                <a:moveTo>
                  <a:pt x="155161" y="2245695"/>
                </a:moveTo>
                <a:lnTo>
                  <a:pt x="168309" y="731356"/>
                </a:lnTo>
                <a:cubicBezTo>
                  <a:pt x="176200" y="460324"/>
                  <a:pt x="239315" y="456023"/>
                  <a:pt x="347139" y="451720"/>
                </a:cubicBezTo>
                <a:lnTo>
                  <a:pt x="946742" y="434511"/>
                </a:lnTo>
                <a:lnTo>
                  <a:pt x="946742" y="688336"/>
                </a:lnTo>
                <a:lnTo>
                  <a:pt x="1226820" y="329110"/>
                </a:lnTo>
                <a:lnTo>
                  <a:pt x="936222" y="0"/>
                </a:lnTo>
                <a:lnTo>
                  <a:pt x="938853" y="197896"/>
                </a:lnTo>
                <a:cubicBezTo>
                  <a:pt x="938853" y="197896"/>
                  <a:pt x="533857" y="202199"/>
                  <a:pt x="307692" y="202199"/>
                </a:cubicBezTo>
                <a:cubicBezTo>
                  <a:pt x="78895" y="206501"/>
                  <a:pt x="2630" y="335563"/>
                  <a:pt x="0" y="641012"/>
                </a:cubicBezTo>
                <a:lnTo>
                  <a:pt x="0" y="2275810"/>
                </a:lnTo>
                <a:cubicBezTo>
                  <a:pt x="26298" y="2542540"/>
                  <a:pt x="122287" y="2516727"/>
                  <a:pt x="155161" y="2245695"/>
                </a:cubicBezTo>
                <a:close/>
              </a:path>
            </a:pathLst>
          </a:custGeom>
          <a:solidFill>
            <a:srgbClr val="A6A6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292600" y="1003300"/>
            <a:ext cx="5918200" cy="1193800"/>
          </a:xfrm>
          <a:prstGeom prst="roundRect">
            <a:avLst>
              <a:gd name="adj" fmla="val 11702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Range Tracker（RT表）机制首次在数据平面引入每流序列号测量范围管控，精准界定有效测量区间，从源头规避了因包乱序、重传导致的测量错误，彻底保证RTT测量结果的准确性。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990600"/>
            <a:ext cx="1244600" cy="1206500"/>
          </a:xfrm>
          <a:prstGeom prst="roundRect">
            <a:avLst>
              <a:gd name="adj" fmla="val 11578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贡献一：Range Tracker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254500" y="2273300"/>
            <a:ext cx="7543800" cy="2781300"/>
          </a:xfrm>
          <a:prstGeom prst="roundRect">
            <a:avLst>
              <a:gd name="adj" fmla="val 11415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Lazy Eviction + Second Chance：</a:t>
            </a: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创新设计内存管理策略，通过“惰性驱逐”结合“第二次机会”机制，避免大RTT样本被过早淘汰，从根本上消除了测量的系统性偏差，同时最大化利用有限的内存资源，兼顾效率与公平。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Analytics-aware 按需过滤：</a:t>
            </a: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摒弃传统“全量记录”模式，转向基于分析需求的“按需筛选”机制，仅保留高价值测量数据，大幅降低存储与计算资源消耗，让系统适配高性能网络的轻量运行需求。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022600" y="2971800"/>
            <a:ext cx="1244600" cy="1193800"/>
          </a:xfrm>
          <a:prstGeom prst="roundRect">
            <a:avLst>
              <a:gd name="adj" fmla="val 11702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贡献二与三：优化与筛选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5143500"/>
            <a:ext cx="5918200" cy="1181100"/>
          </a:xfrm>
          <a:prstGeom prst="roundRect">
            <a:avLst>
              <a:gd name="adj" fmla="val 11827"/>
            </a:avLst>
          </a:prstGeom>
          <a:noFill/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0"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基于P4语言在Intel Tofino可编程交换机上完成了Dart的完整硬件实现并开源代码，在真实网络场景中完成端到端部署验证，证明了系统在实际生产环境中的可行性与高性能表现。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22600" y="5143500"/>
            <a:ext cx="1244600" cy="1181100"/>
          </a:xfrm>
          <a:prstGeom prst="roundRect">
            <a:avLst>
              <a:gd name="adj" fmla="val 11827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900" b="1" i="0" u="none" strike="noStrike">
                <a:solidFill>
                  <a:srgbClr val="F2F2F2"/>
                </a:solidFill>
                <a:latin typeface="微软雅黑"/>
                <a:ea typeface="微软雅黑"/>
                <a:cs typeface="微软雅黑"/>
                <a:sym typeface="微软雅黑"/>
              </a:rPr>
              <a:t>贡献四：硬件与验证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-76200" y="2679700"/>
            <a:ext cx="2209800" cy="1993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38100" rIns="88900" bIns="381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内联实时RTT测量：</a:t>
            </a:r>
            <a:r>
              <a:rPr lang="en-US" sz="25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" y="215900"/>
            <a:ext cx="96139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Dart核心贡献回顾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9663706">
            <a:off x="4052277" y="2571759"/>
            <a:ext cx="14457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9234566">
            <a:off x="5516385" y="4902214"/>
            <a:ext cx="12099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9607574">
            <a:off x="4205029" y="4337060"/>
            <a:ext cx="13053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9319615">
            <a:off x="5402614" y="3136912"/>
            <a:ext cx="13359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9376820">
            <a:off x="4240528" y="4895836"/>
            <a:ext cx="117088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9665378">
            <a:off x="5409115" y="43370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9665378">
            <a:off x="5459915" y="25844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9375414">
            <a:off x="4146242" y="3105137"/>
            <a:ext cx="129596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5350537">
            <a:off x="32511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5350537">
            <a:off x="59562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367721">
            <a:off x="4127485" y="3835415"/>
            <a:ext cx="27051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151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151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227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227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68900" y="20701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68900" y="31496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168900" y="50292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05415" y="1320800"/>
            <a:ext cx="33274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01. 冷启动上下文缺失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当对已处于传输过程中的网络流开始追踪时，系统缺少该流前期的关键交互上下文，可能导致初期RTT测量出现偏差，无法完整还原流的初始传输特征，是被动监测模式下常见的启动阶段问题。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327900" y="1320800"/>
            <a:ext cx="4000500" cy="297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02. 保守的范围折叠策略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在处理RTT采样范围的折叠逻辑时，为避免引入无效或错误的测量数据，系统采用了较为保守的判定机制。这一策略虽提升了数据有效性，但可能会过于严苛地放弃少量处于边界状态的有效样本，造成微量的测量样本损耗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444500" y="3841765"/>
            <a:ext cx="3416300" cy="200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03. 序列号回绕的样本损耗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TCP序列号存在回绕机制，系统在检测到序列号回绕的临界区间时，为保证测量准确性，会主动放弃该区间附近的极少量样本。这种损耗属于可控范围，且在实际长连接传输中发生频率较低，对整体测量影响有限。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327900" y="3975101"/>
            <a:ext cx="36703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04. 下游乱序的感知盲区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作为被动监测方案，Dart仅能捕获监测点可见的网络流量数据，无法感知监测点下游链路中出现的数据包乱序情况。这一局限性是被动监测架构的共性问题，可通过结合端侧反馈或多监测点联动的方式进行一定程度的弥补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" y="304800"/>
            <a:ext cx="8255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局限性与讨论：Dart系统的挑战与应对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6337300"/>
            <a:ext cx="35941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9663706">
            <a:off x="4052277" y="2571759"/>
            <a:ext cx="144579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9234566">
            <a:off x="5516385" y="4902214"/>
            <a:ext cx="120997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9607574">
            <a:off x="4205029" y="4337060"/>
            <a:ext cx="130538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9319615">
            <a:off x="5402614" y="3136912"/>
            <a:ext cx="13359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9376820">
            <a:off x="4240528" y="4895836"/>
            <a:ext cx="117088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9665378">
            <a:off x="5409115" y="43370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9665378">
            <a:off x="5459915" y="2584440"/>
            <a:ext cx="13737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9375414">
            <a:off x="4146242" y="3105137"/>
            <a:ext cx="129596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5350537">
            <a:off x="32511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5350537">
            <a:off x="5956277" y="3746523"/>
            <a:ext cx="17653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5367721">
            <a:off x="4127485" y="3835415"/>
            <a:ext cx="27051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63500" cap="flat" cmpd="sng">
            <a:solidFill>
              <a:srgbClr val="808080">
                <a:alpha val="100000"/>
              </a:srgbClr>
            </a:solidFill>
            <a:prstDash val="solid"/>
            <a:miter lim="100000000"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151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151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22700" y="44069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22700" y="2514600"/>
            <a:ext cx="596900" cy="596900"/>
          </a:xfrm>
          <a:prstGeom prst="ellipse">
            <a:avLst/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68900" y="20701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68900" y="31496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168900" y="5029200"/>
            <a:ext cx="571500" cy="57150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05415" y="1293018"/>
            <a:ext cx="33274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01. 协议扩展适配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重点扩展对QUIC、IPv6等新兴网络协议的支持，突破传统TCP协议的测量局限。针对QUIC的无连接特性与IPv6的地址扩展能力，优化RTT的采样与计算逻辑，实现对下一代互联网传输协议的全面兼容与精准测量。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327900" y="1398082"/>
            <a:ext cx="4000500" cy="297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02. </a:t>
            </a:r>
            <a:r>
              <a:rPr lang="en-US" sz="1600" b="1" i="0" u="none" strike="noStrike" err="1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多节点部署扩展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err="1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在网络路径上部署多个Vantage</a:t>
            </a: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 Point监测节点，有效分离端主机自身延迟与网络传输延迟的影响，提升测量精度。同时依托多节点数据联动，构建端到端的全路径网络视图，为复杂网络环境下的延迟溯源提供支撑。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527050" y="3980259"/>
            <a:ext cx="3416300" cy="200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03. </a:t>
            </a:r>
            <a:r>
              <a:rPr lang="en-US" sz="1600" b="1" i="0" u="none" strike="noStrike" err="1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主动安全检测增强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扩展Dart系统的主动分析能力，针对乐观ACK欺骗、延迟注入等异常网络行为建立特征识别模型。通过实时解析RTT序列的异常波动规律，实现对恶意攻击行为的快速检测与告警，强化测量系统的安全防御能力。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327900" y="3961173"/>
            <a:ext cx="3670300" cy="233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04. </a:t>
            </a:r>
            <a:r>
              <a:rPr lang="en-US" sz="1600" b="1" i="0" u="none" strike="noStrike" err="1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资源与性能优化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err="1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研究并应用近似RT缓存（Approximate</a:t>
            </a:r>
            <a:r>
              <a:rPr lang="en-US" sz="1600" b="0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 RT Cache）技术方案，以少量内存资源的开销，换取测量数据再循环的带宽利用率提升。同时优化内核态与用户态的数据交互流程，降低系统整体资源占用，适配轻量级边缘节点的部署需求。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" y="304800"/>
            <a:ext cx="8255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未来工作方向：Dart系统的深化与扩展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37300"/>
            <a:ext cx="35941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808080"/>
                </a:solidFill>
                <a:latin typeface="隶书"/>
                <a:ea typeface="隶书"/>
                <a:cs typeface="隶书"/>
                <a:sym typeface="隶书"/>
              </a:rPr>
              <a:t>红专并进 理实交融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34375" b="37500"/>
          <a:stretch>
            <a:fillRect/>
          </a:stretch>
        </p:blipFill>
        <p:spPr>
          <a:xfrm>
            <a:off x="9626600" y="114300"/>
            <a:ext cx="24384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35000" y="241300"/>
            <a:ext cx="762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0" rIns="127000" bIns="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lang="en-US" sz="32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系统核心成果总结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50800" y="215900"/>
            <a:ext cx="774700" cy="673100"/>
          </a:xfrm>
          <a:prstGeom prst="triangle">
            <a:avLst>
              <a:gd name="adj" fmla="val 50000"/>
            </a:avLst>
          </a:prstGeom>
          <a:solidFill>
            <a:srgbClr val="03358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1016000"/>
            <a:ext cx="1079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Dart系统核心突破：</a:t>
            </a: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首个在数据平面实现逐包连续、正确、实时RTT测量的系统。在严格硬件约束下，达到与离线软件基准tcptrace超过99%相当的精度，且对大RTT样本无任何系统性偏差，重新定义了网络时延测量的标准。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" y="2413000"/>
            <a:ext cx="10795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01. 极致精度与高效检测 —— 实测性能核心数据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RTT样本收集率突破99%，攻击检测速度仅需2.58秒即可覆盖63个数据包，实现毫秒级异常感知。系统采用O(1)常量空间设计，每流资源占用恒定，彻底摆脱了传统方案的资源瓶颈，同时SRAM硬件开销仅占1.4%，适配严苛的硬件部署环境。</a:t>
            </a:r>
          </a:p>
          <a:p>
            <a:pPr marL="0"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02. 内存效率的颠覆性优化 —— 以极小代价换极致收益</a:t>
            </a:r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通过创新的动态驱逐与内存复用策略，仅以4.2%的样本损失率，换取了72.5%的内存资源节省，在海量连接场景下依然保持系统的轻量化运行，完美平衡了测量完整性与系统资源消耗。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73100" y="4457700"/>
            <a:ext cx="106299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03. 学术认可与开源生态 —— 成果落地与共享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4D4D4D"/>
                </a:solidFill>
                <a:latin typeface="微软雅黑"/>
                <a:ea typeface="微软雅黑"/>
                <a:cs typeface="微软雅黑"/>
                <a:sym typeface="微软雅黑"/>
              </a:rPr>
              <a:t>该成果已发表于网络领域顶会ACM SIGCOMM 2022，相关核心代码已完全开源至GitHub（github.com/Princeton-Cabernet/dart），为网络测量技术的研究与工业落地提供了可复现、可扩展的基础框架，推动行业技术进步。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9042400" y="127000"/>
            <a:ext cx="3136900" cy="311759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289299" y="2984500"/>
            <a:ext cx="8512175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7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演示完毕</a:t>
            </a:r>
            <a:r>
              <a:rPr lang="en-US" sz="6700" b="1" i="0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6700" b="1" i="0" u="none" strike="noStrike" err="1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感谢聆听</a:t>
            </a:r>
            <a:r>
              <a:rPr lang="en-US" sz="6700" b="1" i="1" u="none" strike="noStrike">
                <a:solidFill>
                  <a:srgbClr val="03358E"/>
                </a:solidFill>
                <a:latin typeface="微软雅黑"/>
                <a:ea typeface="微软雅黑"/>
                <a:cs typeface="微软雅黑"/>
                <a:sym typeface="微软雅黑"/>
              </a:rPr>
              <a:t>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10787002">
            <a:off x="3403588" y="4229100"/>
            <a:ext cx="67183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Freeform 5"/>
          <p:cNvSpPr/>
          <p:nvPr/>
        </p:nvSpPr>
        <p:spPr>
          <a:xfrm>
            <a:off x="0" y="1549400"/>
            <a:ext cx="2387970" cy="3826419"/>
          </a:xfrm>
          <a:custGeom>
            <a:avLst/>
            <a:gdLst/>
            <a:ahLst/>
            <a:cxnLst/>
            <a:rect l="l" t="t" r="r" b="b"/>
            <a:pathLst>
              <a:path w="2387970" h="3826419">
                <a:moveTo>
                  <a:pt x="0" y="0"/>
                </a:moveTo>
                <a:lnTo>
                  <a:pt x="2387970" y="1357212"/>
                </a:lnTo>
                <a:lnTo>
                  <a:pt x="0" y="1357212"/>
                </a:lnTo>
                <a:lnTo>
                  <a:pt x="0" y="0"/>
                </a:lnTo>
                <a:close/>
                <a:moveTo>
                  <a:pt x="2387970" y="1382602"/>
                </a:moveTo>
                <a:lnTo>
                  <a:pt x="0" y="2739814"/>
                </a:lnTo>
                <a:lnTo>
                  <a:pt x="0" y="1382602"/>
                </a:lnTo>
                <a:lnTo>
                  <a:pt x="2387970" y="1382602"/>
                </a:lnTo>
                <a:close/>
                <a:moveTo>
                  <a:pt x="915885" y="3226071"/>
                </a:moveTo>
                <a:cubicBezTo>
                  <a:pt x="813300" y="3640016"/>
                  <a:pt x="231135" y="3800387"/>
                  <a:pt x="1603" y="3825455"/>
                </a:cubicBezTo>
                <a:lnTo>
                  <a:pt x="0" y="3826419"/>
                </a:lnTo>
                <a:lnTo>
                  <a:pt x="0" y="2824659"/>
                </a:lnTo>
                <a:lnTo>
                  <a:pt x="915885" y="2293409"/>
                </a:lnTo>
                <a:lnTo>
                  <a:pt x="915885" y="3226071"/>
                </a:lnTo>
                <a:close/>
              </a:path>
            </a:pathLst>
          </a:custGeom>
          <a:solidFill>
            <a:srgbClr val="03358E">
              <a:alpha val="100000"/>
            </a:srgbClr>
          </a:solidFill>
          <a:ln w="12700" cap="flat" cmpd="sng">
            <a:solidFill>
              <a:srgbClr val="03358E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298700" y="2933700"/>
            <a:ext cx="182819" cy="2259004"/>
          </a:xfrm>
          <a:custGeom>
            <a:avLst/>
            <a:gdLst/>
            <a:ahLst/>
            <a:cxnLst/>
            <a:rect l="l" t="t" r="r" b="b"/>
            <a:pathLst>
              <a:path w="182819" h="2259004">
                <a:moveTo>
                  <a:pt x="78763" y="0"/>
                </a:moveTo>
                <a:lnTo>
                  <a:pt x="78763" y="873002"/>
                </a:lnTo>
                <a:cubicBezTo>
                  <a:pt x="65956" y="877823"/>
                  <a:pt x="56991" y="890359"/>
                  <a:pt x="56991" y="905144"/>
                </a:cubicBezTo>
                <a:cubicBezTo>
                  <a:pt x="56991" y="924430"/>
                  <a:pt x="72360" y="939858"/>
                  <a:pt x="91570" y="939858"/>
                </a:cubicBezTo>
                <a:cubicBezTo>
                  <a:pt x="110460" y="939858"/>
                  <a:pt x="126148" y="924430"/>
                  <a:pt x="126148" y="905144"/>
                </a:cubicBezTo>
                <a:cubicBezTo>
                  <a:pt x="126148" y="890359"/>
                  <a:pt x="116863" y="877823"/>
                  <a:pt x="104056" y="873002"/>
                </a:cubicBezTo>
                <a:lnTo>
                  <a:pt x="104056" y="0"/>
                </a:lnTo>
                <a:lnTo>
                  <a:pt x="78763" y="0"/>
                </a:lnTo>
                <a:close/>
                <a:moveTo>
                  <a:pt x="0" y="1205038"/>
                </a:moveTo>
                <a:lnTo>
                  <a:pt x="182819" y="1205038"/>
                </a:lnTo>
                <a:lnTo>
                  <a:pt x="182819" y="1218217"/>
                </a:lnTo>
                <a:lnTo>
                  <a:pt x="0" y="1218217"/>
                </a:lnTo>
                <a:lnTo>
                  <a:pt x="0" y="1205038"/>
                </a:lnTo>
                <a:close/>
                <a:moveTo>
                  <a:pt x="0" y="1068109"/>
                </a:moveTo>
                <a:lnTo>
                  <a:pt x="0" y="1068109"/>
                </a:lnTo>
                <a:lnTo>
                  <a:pt x="0" y="1068109"/>
                </a:lnTo>
                <a:cubicBezTo>
                  <a:pt x="0" y="1017323"/>
                  <a:pt x="40982" y="976180"/>
                  <a:pt x="91570" y="976180"/>
                </a:cubicBezTo>
                <a:cubicBezTo>
                  <a:pt x="141837" y="976180"/>
                  <a:pt x="182819" y="1017323"/>
                  <a:pt x="182819" y="1068109"/>
                </a:cubicBezTo>
                <a:lnTo>
                  <a:pt x="182819" y="1068109"/>
                </a:lnTo>
                <a:lnTo>
                  <a:pt x="182819" y="1068109"/>
                </a:lnTo>
                <a:lnTo>
                  <a:pt x="182819" y="1183824"/>
                </a:lnTo>
                <a:lnTo>
                  <a:pt x="0" y="1183824"/>
                </a:lnTo>
                <a:lnTo>
                  <a:pt x="0" y="1068109"/>
                </a:lnTo>
                <a:close/>
                <a:moveTo>
                  <a:pt x="11847" y="1248752"/>
                </a:moveTo>
                <a:lnTo>
                  <a:pt x="0" y="1248752"/>
                </a:lnTo>
                <a:lnTo>
                  <a:pt x="0" y="2259004"/>
                </a:lnTo>
                <a:lnTo>
                  <a:pt x="11847" y="2259004"/>
                </a:lnTo>
                <a:lnTo>
                  <a:pt x="11847" y="1248752"/>
                </a:lnTo>
                <a:close/>
                <a:moveTo>
                  <a:pt x="40342" y="1248752"/>
                </a:moveTo>
                <a:lnTo>
                  <a:pt x="28495" y="1248752"/>
                </a:lnTo>
                <a:lnTo>
                  <a:pt x="28495" y="2259004"/>
                </a:lnTo>
                <a:lnTo>
                  <a:pt x="40342" y="2259004"/>
                </a:lnTo>
                <a:lnTo>
                  <a:pt x="40342" y="1248752"/>
                </a:lnTo>
                <a:close/>
                <a:moveTo>
                  <a:pt x="68838" y="1248752"/>
                </a:moveTo>
                <a:lnTo>
                  <a:pt x="56991" y="1248752"/>
                </a:lnTo>
                <a:lnTo>
                  <a:pt x="56991" y="2259004"/>
                </a:lnTo>
                <a:lnTo>
                  <a:pt x="68838" y="2259004"/>
                </a:lnTo>
                <a:lnTo>
                  <a:pt x="68838" y="1248752"/>
                </a:lnTo>
                <a:close/>
                <a:moveTo>
                  <a:pt x="97333" y="1248752"/>
                </a:moveTo>
                <a:lnTo>
                  <a:pt x="85486" y="1248752"/>
                </a:lnTo>
                <a:lnTo>
                  <a:pt x="85486" y="2259004"/>
                </a:lnTo>
                <a:lnTo>
                  <a:pt x="97333" y="2259004"/>
                </a:lnTo>
                <a:lnTo>
                  <a:pt x="97333" y="1248752"/>
                </a:lnTo>
                <a:close/>
                <a:moveTo>
                  <a:pt x="125828" y="1248752"/>
                </a:moveTo>
                <a:lnTo>
                  <a:pt x="113981" y="1248752"/>
                </a:lnTo>
                <a:lnTo>
                  <a:pt x="113981" y="2259004"/>
                </a:lnTo>
                <a:lnTo>
                  <a:pt x="125828" y="2259004"/>
                </a:lnTo>
                <a:lnTo>
                  <a:pt x="125828" y="1248752"/>
                </a:lnTo>
                <a:close/>
                <a:moveTo>
                  <a:pt x="154324" y="1248752"/>
                </a:moveTo>
                <a:lnTo>
                  <a:pt x="142477" y="1248752"/>
                </a:lnTo>
                <a:lnTo>
                  <a:pt x="142477" y="2259004"/>
                </a:lnTo>
                <a:lnTo>
                  <a:pt x="154324" y="2259004"/>
                </a:lnTo>
                <a:lnTo>
                  <a:pt x="154324" y="1248752"/>
                </a:lnTo>
                <a:close/>
                <a:moveTo>
                  <a:pt x="182819" y="1248752"/>
                </a:moveTo>
                <a:lnTo>
                  <a:pt x="170972" y="1248752"/>
                </a:lnTo>
                <a:lnTo>
                  <a:pt x="170972" y="2259004"/>
                </a:lnTo>
                <a:lnTo>
                  <a:pt x="182819" y="2259004"/>
                </a:lnTo>
                <a:lnTo>
                  <a:pt x="182819" y="1248752"/>
                </a:lnTo>
                <a:close/>
              </a:path>
            </a:pathLst>
          </a:custGeom>
          <a:solidFill>
            <a:srgbClr val="03358E">
              <a:alpha val="100000"/>
            </a:srgbClr>
          </a:solidFill>
          <a:ln w="12700" cap="flat" cmpd="sng">
            <a:solidFill>
              <a:srgbClr val="03358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76600" y="1270000"/>
            <a:ext cx="4229100" cy="1193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E4387D7-97E8-8770-57B9-B770F95D94B7}"/>
              </a:ext>
            </a:extLst>
          </p:cNvPr>
          <p:cNvSpPr/>
          <p:nvPr/>
        </p:nvSpPr>
        <p:spPr>
          <a:xfrm>
            <a:off x="3403588" y="2498724"/>
            <a:ext cx="5097441" cy="379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5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中国科学技术大学</a:t>
            </a:r>
            <a:r>
              <a:rPr kumimoji="0" lang="en-US" altLang="zh-C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级软件学院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6E3F56-D358-3E10-5019-FCB547A621D5}"/>
              </a:ext>
            </a:extLst>
          </p:cNvPr>
          <p:cNvSpPr/>
          <p:nvPr/>
        </p:nvSpPr>
        <p:spPr>
          <a:xfrm>
            <a:off x="3397553" y="4456189"/>
            <a:ext cx="3894015" cy="37933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答辩人：何志远</a:t>
            </a:r>
            <a:r>
              <a:rPr kumimoji="1" lang="zh-CN" altLang="en-US" sz="1865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，连晓达，韩兆鑫</a:t>
            </a:r>
            <a:endParaRPr kumimoji="1" lang="en-US" altLang="zh-CN" sz="1865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2C63B9DB-FF1F-0DEA-11B2-AA46CDA26405}"/>
              </a:ext>
            </a:extLst>
          </p:cNvPr>
          <p:cNvSpPr txBox="1"/>
          <p:nvPr/>
        </p:nvSpPr>
        <p:spPr>
          <a:xfrm>
            <a:off x="8670883" y="4456188"/>
            <a:ext cx="1617751" cy="37933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导师：赵振刚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1DFBB170A93D0FCCF8B653ABF3F2DAFC04A32BC3436092E02B445A6EEE73CE87" val="[{&quot;GradientColorId&quot;:&quot;&quot;,&quot;IsFree&quot;:true,&quot;IsGradient&quot;:false,&quot;ImagePath&quot;:&quot;&quot;,&quot;GradientColor&quot;:null,&quot;SimpleColor&quot;:&quot;#4472C4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4016</Words>
  <Application>Microsoft Office PowerPoint</Application>
  <PresentationFormat>宽屏</PresentationFormat>
  <Paragraphs>452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Noto Sans SC</vt:lpstr>
      <vt:lpstr>等线</vt:lpstr>
      <vt:lpstr>隶书</vt:lpstr>
      <vt:lpstr>微软雅黑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连晓达</dc:creator>
  <cp:lastModifiedBy>晓达 连</cp:lastModifiedBy>
  <cp:revision>13</cp:revision>
  <dcterms:modified xsi:type="dcterms:W3CDTF">2026-06-26T02:32:41Z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{"Label":"1","ContentProducer":"001191110102MACQD9K64010000","ProduceID":"7655341517112036561","ReservedCode1":"","ContentPropagator":"","PropagateID":"","ReservedCode2":""}</vt:lpwstr>
  </property>
</Properties>
</file>